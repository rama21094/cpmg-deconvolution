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Noisy coupled</c:v>
                </c:pt>
              </c:strCache>
            </c:strRef>
          </c:tx>
          <c:spPr>
            <a:solidFill>
              <a:srgbClr val="C27022"/>
            </a:solidFill>
            <a:ln w="31750" cap="flat">
              <a:solidFill>
                <a:srgbClr val="C27022"/>
              </a:solidFill>
              <a:prstDash val="solid"/>
              <a:round/>
            </a:ln>
            <a:effectLst/>
          </c:spPr>
          <c:invertIfNegative val="0"/>
          <c:dLbls>
            <c:numFmt formatCode="0.0" sourceLinked="0"/>
            <c:txPr>
              <a:bodyPr/>
              <a:lstStyle/>
              <a:p>
                <a:pPr>
                  <a:defRPr b="0" i="0" strike="noStrike" sz="1600" u="none">
                    <a:solidFill>
                      <a:srgbClr val="232B60"/>
                    </a:solidFill>
                    <a:latin typeface="Arial"/>
                  </a:defRPr>
                </a:pPr>
              </a:p>
            </c:txPr>
            <c:showLegendKey val="0"/>
            <c:showVal val="0"/>
            <c:showCatName val="0"/>
            <c:showSerName val="0"/>
            <c:showPercent val="0"/>
            <c:showBubbleSize val="0"/>
            <c:showLeaderLines val="0"/>
          </c:dLbls>
          <c:marker>
            <c:symbol val="circle"/>
            <c:size val="6"/>
            <c:spPr>
              <a:solidFill>
                <a:srgbClr val="C27022"/>
              </a:solidFill>
              <a:ln w="9525" cap="flat">
                <a:solidFill>
                  <a:srgbClr val="C27022"/>
                </a:solidFill>
                <a:prstDash val="solid"/>
                <a:round/>
              </a:ln>
              <a:effectLst/>
            </c:spPr>
          </c:marker>
          <c:cat>
            <c:multiLvlStrRef>
              <c:f>Sheet1!$A$2:$A$41</c:f>
              <c:multiLvlStrCache>
                <c:ptCount val="40"/>
                <c:lvl>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lvl>
              </c:multiLvlStrCache>
            </c:multiLvlStrRef>
          </c:cat>
          <c:val>
            <c:numRef>
              <c:f>Sheet1!$B$2:$B$41</c:f>
              <c:numCache>
                <c:formatCode>General</c:formatCode>
                <c:ptCount val="40"/>
                <c:pt idx="0">
                  <c:v>32.63603004926458</c:v>
                </c:pt>
                <c:pt idx="1">
                  <c:v>31.91968600847531</c:v>
                </c:pt>
                <c:pt idx="2">
                  <c:v>31.09921222545591</c:v>
                </c:pt>
                <c:pt idx="3">
                  <c:v>26.755888485905732</c:v>
                </c:pt>
                <c:pt idx="4">
                  <c:v>26.5218529905065</c:v>
                </c:pt>
                <c:pt idx="5">
                  <c:v>23.926303778579758</c:v>
                </c:pt>
                <c:pt idx="6">
                  <c:v>21.55151379908531</c:v>
                </c:pt>
                <c:pt idx="7">
                  <c:v>19.416115585893717</c:v>
                </c:pt>
                <c:pt idx="8">
                  <c:v>17.710682225078134</c:v>
                </c:pt>
                <c:pt idx="9">
                  <c:v>16.080583195457926</c:v>
                </c:pt>
                <c:pt idx="10">
                  <c:v>14.802485658611353</c:v>
                </c:pt>
                <c:pt idx="11">
                  <c:v>13.002599710798302</c:v>
                </c:pt>
                <c:pt idx="12">
                  <c:v>12.999593147027893</c:v>
                </c:pt>
                <c:pt idx="13">
                  <c:v>12.579247452688488</c:v>
                </c:pt>
                <c:pt idx="14">
                  <c:v>12.462204536553955</c:v>
                </c:pt>
                <c:pt idx="15">
                  <c:v>10.709142130682759</c:v>
                </c:pt>
                <c:pt idx="16">
                  <c:v>10.5516730533703</c:v>
                </c:pt>
                <c:pt idx="17">
                  <c:v>10.43320555678912</c:v>
                </c:pt>
                <c:pt idx="18">
                  <c:v>9.808546925402194</c:v>
                </c:pt>
                <c:pt idx="19">
                  <c:v>8.88987476941753</c:v>
                </c:pt>
                <c:pt idx="20">
                  <c:v>8.953472507181107</c:v>
                </c:pt>
                <c:pt idx="21">
                  <c:v>9.286353753824208</c:v>
                </c:pt>
                <c:pt idx="22">
                  <c:v>9.031153915920465</c:v>
                </c:pt>
                <c:pt idx="23">
                  <c:v>8.666323915050802</c:v>
                </c:pt>
                <c:pt idx="24">
                  <c:v>7.838296163076564</c:v>
                </c:pt>
                <c:pt idx="25">
                  <c:v>8.089213735861318</c:v>
                </c:pt>
                <c:pt idx="26">
                  <c:v>8.204756099726607</c:v>
                </c:pt>
                <c:pt idx="27">
                  <c:v>7.996093650184828</c:v>
                </c:pt>
                <c:pt idx="28">
                  <c:v>8.103489543285402</c:v>
                </c:pt>
                <c:pt idx="29">
                  <c:v>8.198834154742944</c:v>
                </c:pt>
                <c:pt idx="30">
                  <c:v>8.488062329264046</c:v>
                </c:pt>
                <c:pt idx="31">
                  <c:v>8.013922598833233</c:v>
                </c:pt>
                <c:pt idx="32">
                  <c:v>7.835136501065443</c:v>
                </c:pt>
                <c:pt idx="33">
                  <c:v>7.745953225273603</c:v>
                </c:pt>
                <c:pt idx="34">
                  <c:v>7.716008783812894</c:v>
                </c:pt>
                <c:pt idx="35">
                  <c:v>7.099793283246745</c:v>
                </c:pt>
                <c:pt idx="36">
                  <c:v>7.43945513662963</c:v>
                </c:pt>
                <c:pt idx="37">
                  <c:v>7.4000772264239</c:v>
                </c:pt>
                <c:pt idx="38">
                  <c:v>7.367884407481748</c:v>
                </c:pt>
                <c:pt idx="39">
                  <c:v>6.795669244824337</c:v>
                </c:pt>
              </c:numCache>
            </c:numRef>
          </c:val>
          <c:smooth val="0"/>
        </c:ser>
        <c:ser>
          <c:idx val="1"/>
          <c:order val="1"/>
          <c:tx>
            <c:strRef>
              <c:f>Sheet1!$C$1</c:f>
              <c:strCache>
                <c:ptCount val="1"/>
                <c:pt idx="0">
                  <c:v>CNN corrected</c:v>
                </c:pt>
              </c:strCache>
            </c:strRef>
          </c:tx>
          <c:spPr>
            <a:solidFill>
              <a:srgbClr val="247E70"/>
            </a:solidFill>
            <a:ln w="31750" cap="flat">
              <a:solidFill>
                <a:srgbClr val="247E70"/>
              </a:solidFill>
              <a:prstDash val="solid"/>
              <a:round/>
            </a:ln>
            <a:effectLst/>
          </c:spPr>
          <c:invertIfNegative val="0"/>
          <c:dLbls>
            <c:numFmt formatCode="0.0" sourceLinked="0"/>
            <c:txPr>
              <a:bodyPr/>
              <a:lstStyle/>
              <a:p>
                <a:pPr>
                  <a:defRPr b="0" i="0" strike="noStrike" sz="1600" u="none">
                    <a:solidFill>
                      <a:srgbClr val="232B60"/>
                    </a:solidFill>
                    <a:latin typeface="Arial"/>
                  </a:defRPr>
                </a:pPr>
              </a:p>
            </c:txPr>
            <c:showLegendKey val="0"/>
            <c:showVal val="0"/>
            <c:showCatName val="0"/>
            <c:showSerName val="0"/>
            <c:showPercent val="0"/>
            <c:showBubbleSize val="0"/>
            <c:showLeaderLines val="0"/>
          </c:dLbls>
          <c:marker>
            <c:symbol val="circle"/>
            <c:size val="6"/>
            <c:spPr>
              <a:solidFill>
                <a:srgbClr val="247E70"/>
              </a:solidFill>
              <a:ln w="9525" cap="flat">
                <a:solidFill>
                  <a:srgbClr val="247E70"/>
                </a:solidFill>
                <a:prstDash val="solid"/>
                <a:round/>
              </a:ln>
              <a:effectLst/>
            </c:spPr>
          </c:marker>
          <c:cat>
            <c:multiLvlStrRef>
              <c:f>Sheet1!$A$2:$A$41</c:f>
              <c:multiLvlStrCache>
                <c:ptCount val="40"/>
                <c:lvl>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lvl>
              </c:multiLvlStrCache>
            </c:multiLvlStrRef>
          </c:cat>
          <c:val>
            <c:numRef>
              <c:f>Sheet1!$C$2:$C$41</c:f>
              <c:numCache>
                <c:formatCode>General</c:formatCode>
                <c:ptCount val="40"/>
                <c:pt idx="0">
                  <c:v>31.087731213525593</c:v>
                </c:pt>
                <c:pt idx="1">
                  <c:v>30.05177538491947</c:v>
                </c:pt>
                <c:pt idx="2">
                  <c:v>28.645473297659084</c:v>
                </c:pt>
                <c:pt idx="3">
                  <c:v>27.366320216676932</c:v>
                </c:pt>
                <c:pt idx="4">
                  <c:v>25.70372523922218</c:v>
                </c:pt>
                <c:pt idx="5">
                  <c:v>23.57357898802597</c:v>
                </c:pt>
                <c:pt idx="6">
                  <c:v>21.308000453401068</c:v>
                </c:pt>
                <c:pt idx="7">
                  <c:v>19.27194053325189</c:v>
                </c:pt>
                <c:pt idx="8">
                  <c:v>17.488255974494994</c:v>
                </c:pt>
                <c:pt idx="9">
                  <c:v>15.968550871356193</c:v>
                </c:pt>
                <c:pt idx="10">
                  <c:v>14.711333258848926</c:v>
                </c:pt>
                <c:pt idx="11">
                  <c:v>13.65222060144065</c:v>
                </c:pt>
                <c:pt idx="12">
                  <c:v>12.782767781005772</c:v>
                </c:pt>
                <c:pt idx="13">
                  <c:v>12.039822079621574</c:v>
                </c:pt>
                <c:pt idx="14">
                  <c:v>11.436069091935435</c:v>
                </c:pt>
                <c:pt idx="15">
                  <c:v>10.895286139923778</c:v>
                </c:pt>
                <c:pt idx="16">
                  <c:v>10.452224126613665</c:v>
                </c:pt>
                <c:pt idx="17">
                  <c:v>10.066324126649764</c:v>
                </c:pt>
                <c:pt idx="18">
                  <c:v>9.73915856564394</c:v>
                </c:pt>
                <c:pt idx="19">
                  <c:v>9.449163211566901</c:v>
                </c:pt>
                <c:pt idx="20">
                  <c:v>9.19776881952066</c:v>
                </c:pt>
                <c:pt idx="21">
                  <c:v>8.971440182944438</c:v>
                </c:pt>
                <c:pt idx="22">
                  <c:v>8.773015378487894</c:v>
                </c:pt>
                <c:pt idx="23">
                  <c:v>8.603742994311338</c:v>
                </c:pt>
                <c:pt idx="24">
                  <c:v>8.449080932136821</c:v>
                </c:pt>
                <c:pt idx="25">
                  <c:v>8.314902431777607</c:v>
                </c:pt>
                <c:pt idx="26">
                  <c:v>8.1926502678346</c:v>
                </c:pt>
                <c:pt idx="27">
                  <c:v>8.081175868254384</c:v>
                </c:pt>
                <c:pt idx="28">
                  <c:v>7.979651692278466</c:v>
                </c:pt>
                <c:pt idx="29">
                  <c:v>7.88336009158708</c:v>
                </c:pt>
                <c:pt idx="30">
                  <c:v>7.790023930042139</c:v>
                </c:pt>
                <c:pt idx="31">
                  <c:v>7.715765473131565</c:v>
                </c:pt>
                <c:pt idx="32">
                  <c:v>7.641872359381067</c:v>
                </c:pt>
                <c:pt idx="33">
                  <c:v>7.574525826333538</c:v>
                </c:pt>
                <c:pt idx="34">
                  <c:v>7.520923630832107</c:v>
                </c:pt>
                <c:pt idx="35">
                  <c:v>7.454112468278049</c:v>
                </c:pt>
                <c:pt idx="36">
                  <c:v>7.419764254234572</c:v>
                </c:pt>
                <c:pt idx="37">
                  <c:v>7.380376617282396</c:v>
                </c:pt>
                <c:pt idx="38">
                  <c:v>7.306341035960198</c:v>
                </c:pt>
                <c:pt idx="39">
                  <c:v>7.247798459831864</c:v>
                </c:pt>
              </c:numCache>
            </c:numRef>
          </c:val>
          <c:smooth val="0"/>
        </c:ser>
        <c:ser>
          <c:idx val="2"/>
          <c:order val="2"/>
          <c:tx>
            <c:strRef>
              <c:f>Sheet1!$D$1</c:f>
              <c:strCache>
                <c:ptCount val="1"/>
                <c:pt idx="0">
                  <c:v>Clean J=0 target</c:v>
                </c:pt>
              </c:strCache>
            </c:strRef>
          </c:tx>
          <c:spPr>
            <a:solidFill>
              <a:srgbClr val="566171"/>
            </a:solidFill>
            <a:ln w="31750" cap="flat">
              <a:solidFill>
                <a:srgbClr val="566171"/>
              </a:solidFill>
              <a:prstDash val="solid"/>
              <a:round/>
            </a:ln>
            <a:effectLst/>
          </c:spPr>
          <c:invertIfNegative val="0"/>
          <c:dLbls>
            <c:numFmt formatCode="0.0" sourceLinked="0"/>
            <c:txPr>
              <a:bodyPr/>
              <a:lstStyle/>
              <a:p>
                <a:pPr>
                  <a:defRPr b="0" i="0" strike="noStrike" sz="1600" u="none">
                    <a:solidFill>
                      <a:srgbClr val="232B60"/>
                    </a:solidFill>
                    <a:latin typeface="Arial"/>
                  </a:defRPr>
                </a:pPr>
              </a:p>
            </c:txPr>
            <c:showLegendKey val="0"/>
            <c:showVal val="0"/>
            <c:showCatName val="0"/>
            <c:showSerName val="0"/>
            <c:showPercent val="0"/>
            <c:showBubbleSize val="0"/>
            <c:showLeaderLines val="0"/>
          </c:dLbls>
          <c:marker>
            <c:symbol val="circle"/>
            <c:size val="6"/>
            <c:spPr>
              <a:solidFill>
                <a:srgbClr val="566171"/>
              </a:solidFill>
              <a:ln w="9525" cap="flat">
                <a:solidFill>
                  <a:srgbClr val="566171"/>
                </a:solidFill>
                <a:prstDash val="solid"/>
                <a:round/>
              </a:ln>
              <a:effectLst/>
            </c:spPr>
          </c:marker>
          <c:cat>
            <c:multiLvlStrRef>
              <c:f>Sheet1!$A$2:$A$41</c:f>
              <c:multiLvlStrCache>
                <c:ptCount val="40"/>
                <c:lvl>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lvl>
              </c:multiLvlStrCache>
            </c:multiLvlStrRef>
          </c:cat>
          <c:val>
            <c:numRef>
              <c:f>Sheet1!$D$2:$D$41</c:f>
              <c:numCache>
                <c:formatCode>General</c:formatCode>
                <c:ptCount val="40"/>
                <c:pt idx="0">
                  <c:v>29.6441781980444</c:v>
                </c:pt>
                <c:pt idx="1">
                  <c:v>28.94213256855396</c:v>
                </c:pt>
                <c:pt idx="2">
                  <c:v>27.69874266784933</c:v>
                </c:pt>
                <c:pt idx="3">
                  <c:v>26.507221844331486</c:v>
                </c:pt>
                <c:pt idx="4">
                  <c:v>24.91355379572711</c:v>
                </c:pt>
                <c:pt idx="5">
                  <c:v>22.86827878992369</c:v>
                </c:pt>
                <c:pt idx="6">
                  <c:v>20.74226587818502</c:v>
                </c:pt>
                <c:pt idx="7">
                  <c:v>18.7808191842515</c:v>
                </c:pt>
                <c:pt idx="8">
                  <c:v>17.0746163661376</c:v>
                </c:pt>
                <c:pt idx="9">
                  <c:v>15.629525205999684</c:v>
                </c:pt>
                <c:pt idx="10">
                  <c:v>14.419749464235876</c:v>
                </c:pt>
                <c:pt idx="11">
                  <c:v>13.409033521884123</c:v>
                </c:pt>
                <c:pt idx="12">
                  <c:v>12.563673194414426</c:v>
                </c:pt>
                <c:pt idx="13">
                  <c:v>11.85313286423601</c:v>
                </c:pt>
                <c:pt idx="14">
                  <c:v>11.253172716971093</c:v>
                </c:pt>
                <c:pt idx="15">
                  <c:v>10.743160974063445</c:v>
                </c:pt>
                <c:pt idx="16">
                  <c:v>10.307364398601461</c:v>
                </c:pt>
                <c:pt idx="17">
                  <c:v>9.932400201067225</c:v>
                </c:pt>
                <c:pt idx="18">
                  <c:v>9.60820936311794</c:v>
                </c:pt>
                <c:pt idx="19">
                  <c:v>9.326069133676405</c:v>
                </c:pt>
                <c:pt idx="20">
                  <c:v>9.079479931344299</c:v>
                </c:pt>
                <c:pt idx="21">
                  <c:v>8.862645383538016</c:v>
                </c:pt>
                <c:pt idx="22">
                  <c:v>8.671286964985354</c:v>
                </c:pt>
                <c:pt idx="23">
                  <c:v>8.50146057646626</c:v>
                </c:pt>
                <c:pt idx="24">
                  <c:v>8.35029174889424</c:v>
                </c:pt>
                <c:pt idx="25">
                  <c:v>8.21503087120592</c:v>
                </c:pt>
                <c:pt idx="26">
                  <c:v>8.09370822905123</c:v>
                </c:pt>
                <c:pt idx="27">
                  <c:v>7.984361698737552</c:v>
                </c:pt>
                <c:pt idx="28">
                  <c:v>7.885616761009607</c:v>
                </c:pt>
                <c:pt idx="29">
                  <c:v>7.796042294427544</c:v>
                </c:pt>
                <c:pt idx="30">
                  <c:v>7.714663356766366</c:v>
                </c:pt>
                <c:pt idx="31">
                  <c:v>7.640414771495034</c:v>
                </c:pt>
                <c:pt idx="32">
                  <c:v>7.572595024243686</c:v>
                </c:pt>
                <c:pt idx="33">
                  <c:v>7.510396372451701</c:v>
                </c:pt>
                <c:pt idx="34">
                  <c:v>7.45330773775826</c:v>
                </c:pt>
                <c:pt idx="35">
                  <c:v>7.40070598332117</c:v>
                </c:pt>
                <c:pt idx="36">
                  <c:v>7.352214819287821</c:v>
                </c:pt>
                <c:pt idx="37">
                  <c:v>7.30734586656315</c:v>
                </c:pt>
                <c:pt idx="38">
                  <c:v>7.265819641884207</c:v>
                </c:pt>
                <c:pt idx="39">
                  <c:v>7.2272477708502105</c:v>
                </c:pt>
              </c:numCache>
            </c:numRef>
          </c:val>
          <c:smooth val="0"/>
        </c:ser>
        <c:dLbls>
          <c:numFmt formatCode="0.0" sourceLinked="0"/>
          <c:txPr>
            <a:bodyPr/>
            <a:lstStyle/>
            <a:p>
              <a:pPr>
                <a:defRPr b="0" i="0" strike="noStrike" sz="1600" u="none">
                  <a:solidFill>
                    <a:srgbClr val="232B6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800" b="0" i="0" u="none" strike="noStrike">
                    <a:solidFill>
                      <a:srgbClr val="000000"/>
                    </a:solidFill>
                    <a:latin typeface="Arial"/>
                  </a:defRPr>
                </a:pPr>
                <a:r>
                  <a:rPr sz="1800" b="0" i="0" u="none" strike="noStrike">
                    <a:solidFill>
                      <a:srgbClr val="000000"/>
                    </a:solidFill>
                    <a:latin typeface="Arial"/>
                  </a:rPr>
                  <a:t>νCPMG (Hz)</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2"/>
        <c:crosses val="autoZero"/>
        <c:auto val="1"/>
        <c:lblAlgn val="ctr"/>
        <c:noMultiLvlLbl val="1"/>
        <c:tickLblSkip val="8"/>
      </c:catAx>
      <c:valAx>
        <c:axId val="2094734552"/>
        <c:scaling>
          <c:orientation val="minMax"/>
        </c:scaling>
        <c:delete val="0"/>
        <c:axPos val="l"/>
        <c:majorGridlines>
          <c:spPr>
            <a:ln w="12700" cap="flat">
              <a:solidFill>
                <a:srgbClr val="E3E7EA"/>
              </a:solidFill>
              <a:prstDash val="solid"/>
              <a:round/>
            </a:ln>
          </c:spPr>
        </c:majorGridlines>
        <c:title>
          <c:tx>
            <c:rich>
              <a:bodyPr/>
              <a:lstStyle/>
              <a:p>
                <a:pPr>
                  <a:defRPr sz="1800" b="0" i="0" u="none" strike="noStrike">
                    <a:solidFill>
                      <a:srgbClr val="000000"/>
                    </a:solidFill>
                    <a:latin typeface="Arial"/>
                  </a:defRPr>
                </a:pPr>
                <a:r>
                  <a:rPr sz="1800" b="0" i="0" u="none" strike="noStrike">
                    <a:solidFill>
                      <a:srgbClr val="000000"/>
                    </a:solidFill>
                    <a:latin typeface="Arial"/>
                  </a:rPr>
                  <a:t>R₂,eff (s⁻¹)</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1600">
              <a:latin typeface="Arial"/>
              <a:cs typeface="Aria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Clean test RMSE</c:v>
                </c:pt>
              </c:strCache>
            </c:strRef>
          </c:tx>
          <c:spPr>
            <a:solidFill>
              <a:srgbClr val="247E70"/>
            </a:solidFill>
            <a:effectLst/>
          </c:spPr>
          <c:invertIfNegative val="0"/>
          <c:dLbls>
            <c:numFmt formatCode="0.0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cat>
            <c:multiLvlStrRef>
              <c:f>Sheet1!$A$2:$A$6</c:f>
              <c:multiLvlStrCache>
                <c:ptCount val="5"/>
                <c:lvl>
                  <c:pt idx="0">
                    <c:v>Unchanged</c:v>
                  </c:pt>
                  <c:pt idx="1">
                    <c:v>Linear</c:v>
                  </c:pt>
                  <c:pt idx="2">
                    <c:v>MLP</c:v>
                  </c:pt>
                  <c:pt idx="3">
                    <c:v>Transformer</c:v>
                  </c:pt>
                  <c:pt idx="4">
                    <c:v>FiLM-CNN</c:v>
                  </c:pt>
                </c:lvl>
              </c:multiLvlStrCache>
            </c:multiLvlStrRef>
          </c:cat>
          <c:val>
            <c:numRef>
              <c:f>Sheet1!$B$2:$B$6</c:f>
              <c:numCache>
                <c:formatCode>General</c:formatCode>
                <c:ptCount val="5"/>
                <c:pt idx="0">
                  <c:v>0.8190260526904284</c:v>
                </c:pt>
                <c:pt idx="1">
                  <c:v>0.5411658390865559</c:v>
                </c:pt>
                <c:pt idx="2">
                  <c:v>0.20576650382432496</c:v>
                </c:pt>
                <c:pt idx="3">
                  <c:v>0.07106392372076392</c:v>
                </c:pt>
                <c:pt idx="4">
                  <c:v>0.05322613711998504</c:v>
                </c:pt>
              </c:numCache>
            </c:numRef>
          </c:val>
        </c:ser>
        <c:dLbls>
          <c:numFmt formatCode="0.0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5"/>
          <c:min val="0"/>
        </c:scaling>
        <c:delete val="0"/>
        <c:axPos val="b"/>
        <c:majorGridlines>
          <c:spPr>
            <a:ln w="12700" cap="flat">
              <a:solidFill>
                <a:srgbClr val="E3E7EA"/>
              </a:solidFill>
              <a:prstDash val="solid"/>
              <a:round/>
            </a:ln>
          </c:spPr>
        </c:majorGridlines>
        <c:title>
          <c:tx>
            <c:rich>
              <a:bodyPr/>
              <a:lstStyle/>
              <a:p>
                <a:pPr>
                  <a:defRPr sz="1800" b="0" i="0" u="none" strike="noStrike">
                    <a:solidFill>
                      <a:srgbClr val="000000"/>
                    </a:solidFill>
                    <a:latin typeface="Arial"/>
                  </a:defRPr>
                </a:pPr>
                <a:r>
                  <a:rPr sz="1800" b="0" i="0" u="none" strike="noStrike">
                    <a:solidFill>
                      <a:srgbClr val="000000"/>
                    </a:solidFill>
                    <a:latin typeface="Arial"/>
                  </a:rPr>
                  <a:t>RMSE (s⁻¹)</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4"/>
        <c:crosses val="autoZero"/>
        <c:crossBetween val="between"/>
        <c:majorUnit val="0.2"/>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Unchanged input</c:v>
                </c:pt>
              </c:strCache>
            </c:strRef>
          </c:tx>
          <c:spPr>
            <a:solidFill>
              <a:srgbClr val="C27022"/>
            </a:solidFill>
            <a:effectLst/>
          </c:spPr>
          <c:invertIfNegative val="0"/>
          <c:dLbls>
            <c:numFmt formatCode="0.0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cat>
            <c:multiLvlStrRef>
              <c:f>Sheet1!$A$2:$A$3</c:f>
              <c:multiLvlStrCache>
                <c:ptCount val="2"/>
                <c:lvl>
                  <c:pt idx="0">
                    <c:v>Clean input</c:v>
                  </c:pt>
                  <c:pt idx="1">
                    <c:v>SNR 100 input</c:v>
                  </c:pt>
                </c:lvl>
              </c:multiLvlStrCache>
            </c:multiLvlStrRef>
          </c:cat>
          <c:val>
            <c:numRef>
              <c:f>Sheet1!$B$2:$B$3</c:f>
              <c:numCache>
                <c:formatCode>General</c:formatCode>
                <c:ptCount val="2"/>
                <c:pt idx="0">
                  <c:v>0.6332235398008715</c:v>
                </c:pt>
                <c:pt idx="1">
                  <c:v>1.3035691563186453</c:v>
                </c:pt>
              </c:numCache>
            </c:numRef>
          </c:val>
        </c:ser>
        <c:ser>
          <c:idx val="1"/>
          <c:order val="1"/>
          <c:tx>
            <c:strRef>
              <c:f>Sheet1!$C$1</c:f>
              <c:strCache>
                <c:ptCount val="1"/>
                <c:pt idx="0">
                  <c:v>CNN</c:v>
                </c:pt>
              </c:strCache>
            </c:strRef>
          </c:tx>
          <c:spPr>
            <a:solidFill>
              <a:srgbClr val="247E70"/>
            </a:solidFill>
            <a:effectLst/>
          </c:spPr>
          <c:invertIfNegative val="0"/>
          <c:dLbls>
            <c:numFmt formatCode="0.0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cat>
            <c:multiLvlStrRef>
              <c:f>Sheet1!$A$2:$A$3</c:f>
              <c:multiLvlStrCache>
                <c:ptCount val="2"/>
                <c:lvl>
                  <c:pt idx="0">
                    <c:v>Clean input</c:v>
                  </c:pt>
                  <c:pt idx="1">
                    <c:v>SNR 100 input</c:v>
                  </c:pt>
                </c:lvl>
              </c:multiLvlStrCache>
            </c:multiLvlStrRef>
          </c:cat>
          <c:val>
            <c:numRef>
              <c:f>Sheet1!$C$2:$C$3</c:f>
              <c:numCache>
                <c:formatCode>General</c:formatCode>
                <c:ptCount val="2"/>
                <c:pt idx="0">
                  <c:v>0.010187053592845174</c:v>
                </c:pt>
                <c:pt idx="1">
                  <c:v>0.4586871444130043</c:v>
                </c:pt>
              </c:numCache>
            </c:numRef>
          </c:val>
        </c:ser>
        <c:dLbls>
          <c:numFmt formatCode="0.0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3E7EA"/>
              </a:solidFill>
              <a:prstDash val="solid"/>
              <a:round/>
            </a:ln>
          </c:spPr>
        </c:majorGridlines>
        <c:title>
          <c:tx>
            <c:rich>
              <a:bodyPr/>
              <a:lstStyle/>
              <a:p>
                <a:pPr>
                  <a:defRPr sz="1800" b="0" i="0" u="none" strike="noStrike">
                    <a:solidFill>
                      <a:srgbClr val="000000"/>
                    </a:solidFill>
                    <a:latin typeface="Arial"/>
                  </a:defRPr>
                </a:pPr>
                <a:r>
                  <a:rPr sz="1800" b="0" i="0" u="none" strike="noStrike">
                    <a:solidFill>
                      <a:srgbClr val="000000"/>
                    </a:solidFill>
                    <a:latin typeface="Arial"/>
                  </a:rPr>
                  <a:t>RMSE (s⁻¹)</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4"/>
        <c:crosses val="autoZero"/>
        <c:crossBetween val="between"/>
        <c:majorUnit val="0.4"/>
      </c:valAx>
      <c:spPr>
        <a:solidFill>
          <a:srgbClr val="FFFFFF"/>
        </a:solidFill>
        <a:ln w="12700" cap="flat">
          <a:solidFill>
            <a:srgbClr val="FFFFFF"/>
          </a:solidFill>
        </a:ln>
        <a:effectLst/>
      </c:spPr>
    </c:plotArea>
    <c:legend>
      <c:legendPos val="b"/>
      <c:overlay val="0"/>
      <c:txPr>
        <a:bodyPr/>
        <a:lstStyle/>
        <a:p>
          <a:pPr>
            <a:defRPr sz="1600">
              <a:latin typeface="Arial"/>
              <a:cs typeface="Aria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Noisy J=0</c:v>
                </c:pt>
              </c:strCache>
            </c:strRef>
          </c:tx>
          <c:spPr>
            <a:solidFill>
              <a:srgbClr val="566171"/>
            </a:solidFill>
            <a:effectLst/>
          </c:spPr>
          <c:invertIfNegative val="0"/>
          <c:dLbls>
            <c:numFmt formatCode="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cat>
            <c:multiLvlStrRef>
              <c:f>Sheet1!$A$2:$A$4</c:f>
              <c:multiLvlStrCache>
                <c:ptCount val="3"/>
                <c:lvl>
                  <c:pt idx="0">
                    <c:v>kex</c:v>
                  </c:pt>
                  <c:pt idx="1">
                    <c:v>pB</c:v>
                  </c:pt>
                  <c:pt idx="2">
                    <c:v>|Δω|</c:v>
                  </c:pt>
                </c:lvl>
              </c:multiLvlStrCache>
            </c:multiLvlStrRef>
          </c:cat>
          <c:val>
            <c:numRef>
              <c:f>Sheet1!$B$2:$B$4</c:f>
              <c:numCache>
                <c:formatCode>General</c:formatCode>
                <c:ptCount val="3"/>
                <c:pt idx="0">
                  <c:v>1.656074074074071</c:v>
                </c:pt>
                <c:pt idx="1">
                  <c:v>1.4948666666666668</c:v>
                </c:pt>
                <c:pt idx="2">
                  <c:v>1.0946925925925919</c:v>
                </c:pt>
              </c:numCache>
            </c:numRef>
          </c:val>
        </c:ser>
        <c:ser>
          <c:idx val="1"/>
          <c:order val="1"/>
          <c:tx>
            <c:strRef>
              <c:f>Sheet1!$C$1</c:f>
              <c:strCache>
                <c:ptCount val="1"/>
                <c:pt idx="0">
                  <c:v>Noisy coupled</c:v>
                </c:pt>
              </c:strCache>
            </c:strRef>
          </c:tx>
          <c:spPr>
            <a:solidFill>
              <a:srgbClr val="C27022"/>
            </a:solidFill>
            <a:effectLst/>
          </c:spPr>
          <c:invertIfNegative val="0"/>
          <c:dLbls>
            <c:numFmt formatCode="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cat>
            <c:multiLvlStrRef>
              <c:f>Sheet1!$A$2:$A$4</c:f>
              <c:multiLvlStrCache>
                <c:ptCount val="3"/>
                <c:lvl>
                  <c:pt idx="0">
                    <c:v>kex</c:v>
                  </c:pt>
                  <c:pt idx="1">
                    <c:v>pB</c:v>
                  </c:pt>
                  <c:pt idx="2">
                    <c:v>|Δω|</c:v>
                  </c:pt>
                </c:lvl>
              </c:multiLvlStrCache>
            </c:multiLvlStrRef>
          </c:cat>
          <c:val>
            <c:numRef>
              <c:f>Sheet1!$C$2:$C$4</c:f>
              <c:numCache>
                <c:formatCode>General</c:formatCode>
                <c:ptCount val="3"/>
                <c:pt idx="0">
                  <c:v>18.470185185185183</c:v>
                </c:pt>
                <c:pt idx="1">
                  <c:v>21.961066666666653</c:v>
                </c:pt>
                <c:pt idx="2">
                  <c:v>4.093877777777778</c:v>
                </c:pt>
              </c:numCache>
            </c:numRef>
          </c:val>
        </c:ser>
        <c:ser>
          <c:idx val="2"/>
          <c:order val="2"/>
          <c:tx>
            <c:strRef>
              <c:f>Sheet1!$D$1</c:f>
              <c:strCache>
                <c:ptCount val="1"/>
                <c:pt idx="0">
                  <c:v>CNN corrected</c:v>
                </c:pt>
              </c:strCache>
            </c:strRef>
          </c:tx>
          <c:spPr>
            <a:solidFill>
              <a:srgbClr val="247E70"/>
            </a:solidFill>
            <a:effectLst/>
          </c:spPr>
          <c:invertIfNegative val="0"/>
          <c:dLbls>
            <c:numFmt formatCode="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cat>
            <c:multiLvlStrRef>
              <c:f>Sheet1!$A$2:$A$4</c:f>
              <c:multiLvlStrCache>
                <c:ptCount val="3"/>
                <c:lvl>
                  <c:pt idx="0">
                    <c:v>kex</c:v>
                  </c:pt>
                  <c:pt idx="1">
                    <c:v>pB</c:v>
                  </c:pt>
                  <c:pt idx="2">
                    <c:v>|Δω|</c:v>
                  </c:pt>
                </c:lvl>
              </c:multiLvlStrCache>
            </c:multiLvlStrRef>
          </c:cat>
          <c:val>
            <c:numRef>
              <c:f>Sheet1!$D$2:$D$4</c:f>
              <c:numCache>
                <c:formatCode>General</c:formatCode>
                <c:ptCount val="3"/>
                <c:pt idx="0">
                  <c:v>11.037324074074073</c:v>
                </c:pt>
                <c:pt idx="1">
                  <c:v>11.44086666666666</c:v>
                </c:pt>
                <c:pt idx="2">
                  <c:v>1.5849851851851868</c:v>
                </c:pt>
              </c:numCache>
            </c:numRef>
          </c:val>
        </c:ser>
        <c:dLbls>
          <c:numFmt formatCode="0.0" sourceLinked="0"/>
          <c:txPr>
            <a:bodyPr/>
            <a:lstStyle/>
            <a:p>
              <a:pPr>
                <a:defRPr b="0" i="0" strike="noStrike" sz="1600" u="none">
                  <a:solidFill>
                    <a:srgbClr val="232B6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
          <c:min val="0"/>
        </c:scaling>
        <c:delete val="0"/>
        <c:axPos val="l"/>
        <c:majorGridlines>
          <c:spPr>
            <a:ln w="12700" cap="flat">
              <a:solidFill>
                <a:srgbClr val="E3E7EA"/>
              </a:solidFill>
              <a:prstDash val="solid"/>
              <a:round/>
            </a:ln>
          </c:spPr>
        </c:majorGridlines>
        <c:title>
          <c:tx>
            <c:rich>
              <a:bodyPr/>
              <a:lstStyle/>
              <a:p>
                <a:pPr>
                  <a:defRPr sz="1800" b="0" i="0" u="none" strike="noStrike">
                    <a:solidFill>
                      <a:srgbClr val="000000"/>
                    </a:solidFill>
                    <a:latin typeface="Arial"/>
                  </a:defRPr>
                </a:pPr>
                <a:r>
                  <a:rPr sz="1800" b="0" i="0" u="none" strike="noStrike">
                    <a:solidFill>
                      <a:srgbClr val="000000"/>
                    </a:solidFill>
                    <a:latin typeface="Arial"/>
                  </a:rPr>
                  <a:t>Mean absolute relative error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4"/>
        <c:crosses val="autoZero"/>
        <c:crossBetween val="between"/>
        <c:majorUnit val="5"/>
      </c:valAx>
      <c:spPr>
        <a:solidFill>
          <a:srgbClr val="FFFFFF"/>
        </a:solidFill>
        <a:ln w="12700" cap="flat">
          <a:solidFill>
            <a:srgbClr val="FFFFFF"/>
          </a:solidFill>
        </a:ln>
        <a:effectLst/>
      </c:spPr>
    </c:plotArea>
    <c:legend>
      <c:legendPos val="b"/>
      <c:overlay val="0"/>
      <c:txPr>
        <a:bodyPr/>
        <a:lstStyle/>
        <a:p>
          <a:pPr>
            <a:defRPr sz="1600">
              <a:latin typeface="Arial"/>
              <a:cs typeface="Aria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Our objective is computational J-coupling correction while retaining the information about exchange. The target is the same simulator and pulse sequence with J set to zero, not automatically a physically decoupled experimental acquisition. This illustration uses the 600 MHz, shift=3 ppm profile from the new fixed-geometry fitting expansion, kex=600, pB=.05, noise seed 99101. B1=5555 Hz, tau_m=5 ns, tau_e=50 ps, S2=.85, r_IS=1.02 A, r_eff=1.86 A, CSA=-160 ppm, theta=22 degrees. The input is noisy, while the target is clean, so the learned mapping includes denoising. Source: cpmg_ml/fit_validation_pilot.py and docs/ml_results/fit_expansion_20260910/k600_seed99101.json. Context sources: CPMG_GroupMeeting_v2_with_Jblind_slide.pptx and CPMG_PI_Update_3Sep2026.pptx.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includes progress from the unpresented September deck. The clean ladder is the original 20k test benchmark: identity .8190, linear .5412, MLP .2058, Transformer without positional embedding .0711, CNN .0532 s^-1. The positional Transformer scored .0808. This establishes the CNN as the best tested configuration, not a universal architecture winner. Training seeds and budgets need fuller comparison. The right-hand re-evaluation excludes seven exact test/train duplicates and changes the CNN RMSE negligibly to .05323586 on 19,993 profiles. Four validation overlaps and 59 training duplicate occurrences were also found. Existing checkpoints retain their original selection history. The matrix assertion passes, but rates are taken from our matrix and supplied to ChemEx and identity/source terms are excluded. Avoid saying all physical formulas are independently validated. Sources: ladder500k_clean.json, benchmark_audit_500k.json, audited_cnn_evaluation.json, tests/compare_matrix_vs_chemex_dqzq.py.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Both chart groups use the same expected-intensity mask, computed using the clean coupled curve. This is a diagnostic subset, not an experimental quality filter that can use unknown truth. Clean scores are .6332 unchanged and .01019 CNN. Noisy scores are 1.30357 and .45869, averaged over three new noise realisations. CNN standard deviation across these draws is .00162 on this subset, not a training-seed uncertainty or population confidence interval. Full-point noisy CNN RMSE is 3.369 +/- .034 across draws. Around 1.53-1.55% of intensities become nonpositive before historical clipping. We retained the old preprocessing to evaluate existing checkpoints. A simple validation-tuned smoothing control was weaker, but a dedicated denoiser and uncertainty-aware controls remain necessary. Noise in the shared reference correlates R2 errors. The old maximum-noise visibility heuristic does not prove any recovery ceiling. No definite averaging or acquisition recommendation follows yet. Source: audited_cnn_evaluation.json, noise_statistics.py, tests/test_noise_statistics.py.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This extends the September 9 single-case pilot. Three physical exchange rates, each with two noise draws, give six exploratory cases, not six independent biological systems. Each case uses three shifts (1,3,5 ppm) at two fields (600/800 MHz), four arms, and two starts: 48 fits completed. We fix R1 to simulator values and fit R2, making this an optimistic controlled benchmark. The clean J=0 reference has mean absolute relative errors .0176% kex, .3137% pB and .0672% shift magnitude. The displayed noisy reference errors are 1.656%, 1.495%, 1.095%. Coupled errors are 18.470%, 21.961%, 4.094%. Corrected errors are 11.037%, 11.441%, 1.585%. Shifts are scored by magnitude, with signed fitted values preserved. kex and shift errors improve in all six cases; pB improves in five. Corrected errors at kex=300 remain substantial: kex about -20 to -22%, pB about +24 to +27%. Do not hide these failures in an average. The small pB worsening at kex=1800/seed99101 is .469% to .733%. Corrected intensities are pseudo-data with fitting weights, not calibrated uncertainties. Sources: fit_expansion_20260910_summary.json and its six component JSON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We can proceed computationally without waiting for all experimental details. Priority one is explaining the bias at kex=300 and separating denoising from J correction. We should not add millions more training profiles before understanding this. Then update preprocessing and train a denoising control and correction model across seeds. A fresh benchmark should be frozen before viewing outcomes and use separate seed ranges, with held-out acquisition/regime tests separate from random interpolation tests. Changing input preprocessing requires retraining. Include already-J-free and no-exchange controls to detect invented dispersion. Quantify input uncertainty in B1 and J. Independently derive rate and source terms rather than relying only on a shared-rate matrix comparison. Deployment must use the actual successful checkpoint/preprocessing path. No parameter narrowing has been applied pending PI discussion. This is a proposed work sequence, not a claim these items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discussion. Ask for the actual pulse-program file rather than only an experiment name: physical decoupling can change more than J and is not automatically identical to setting J=0 in a simulation. Identify a sample with interpretable exchange, repeat measurements, and an independent comparison. Agree realistic field strengths, pulse widths, frequency sampling, signal-to-noise and exchange ranges. Ask what parameter bias or failure rate would prevent using a corrected curve and whether a correction should sometimes be withheld. Choose thresholds before the final test, rather than selecting them after seeing performance. Finally agree whether experimental validation is required for the first manuscript and who can provide/acquire the data. The existing CNN remains the working baseline; a new architecture is not a prerequisite for this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09960" cy="566928"/>
          </a:xfrm>
          <a:prstGeom prst="rect">
            <a:avLst/>
          </a:prstGeom>
          <a:noFill/>
          <a:ln/>
        </p:spPr>
        <p:txBody>
          <a:bodyPr wrap="square" lIns="0" tIns="0" rIns="0" bIns="0" rtlCol="0" anchor="ctr"/>
          <a:lstStyle/>
          <a:p>
            <a:pPr indent="0" marL="0">
              <a:buNone/>
            </a:pPr>
            <a:r>
              <a:rPr lang="en-US" sz="3400" b="1" dirty="0">
                <a:solidFill>
                  <a:srgbClr val="232B60"/>
                </a:solidFill>
                <a:latin typeface="Arial" pitchFamily="34" charset="0"/>
                <a:ea typeface="Arial" pitchFamily="34" charset="-122"/>
                <a:cs typeface="Arial" pitchFamily="34" charset="-120"/>
              </a:rPr>
              <a:t>CPMG J-coupling correction</a:t>
            </a:r>
            <a:endParaRPr lang="en-US" sz="3400" dirty="0"/>
          </a:p>
        </p:txBody>
      </p:sp>
      <p:sp>
        <p:nvSpPr>
          <p:cNvPr id="3" name="Text 1"/>
          <p:cNvSpPr/>
          <p:nvPr/>
        </p:nvSpPr>
        <p:spPr>
          <a:xfrm>
            <a:off x="521208" y="987552"/>
            <a:ext cx="11109960" cy="548640"/>
          </a:xfrm>
          <a:prstGeom prst="rect">
            <a:avLst/>
          </a:prstGeom>
          <a:noFill/>
          <a:ln/>
        </p:spPr>
        <p:txBody>
          <a:bodyPr wrap="square" lIns="0" tIns="0" rIns="0" bIns="0" rtlCol="0" anchor="ctr"/>
          <a:lstStyle/>
          <a:p>
            <a:pPr indent="0" marL="0">
              <a:buNone/>
            </a:pPr>
            <a:r>
              <a:rPr lang="en-US" sz="1800" dirty="0">
                <a:solidFill>
                  <a:srgbClr val="566171"/>
                </a:solidFill>
                <a:latin typeface="Arial" pitchFamily="34" charset="0"/>
                <a:ea typeface="Arial" pitchFamily="34" charset="-122"/>
                <a:cs typeface="Arial" pitchFamily="34" charset="-120"/>
              </a:rPr>
              <a:t>Weekly PI update: progress since the August group meeting and the unpresented September update</a:t>
            </a:r>
            <a:endParaRPr lang="en-US" sz="1800" dirty="0"/>
          </a:p>
        </p:txBody>
      </p:sp>
      <p:sp>
        <p:nvSpPr>
          <p:cNvPr id="4" name="Text 2"/>
          <p:cNvSpPr/>
          <p:nvPr/>
        </p:nvSpPr>
        <p:spPr>
          <a:xfrm>
            <a:off x="521208" y="6437376"/>
            <a:ext cx="10881360" cy="237744"/>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11 September 2026   •   1/6</a:t>
            </a:r>
            <a:endParaRPr lang="en-US" sz="1600" dirty="0"/>
          </a:p>
        </p:txBody>
      </p:sp>
      <p:sp>
        <p:nvSpPr>
          <p:cNvPr id="5" name="Text 3"/>
          <p:cNvSpPr/>
          <p:nvPr/>
        </p:nvSpPr>
        <p:spPr>
          <a:xfrm>
            <a:off x="548640" y="1783080"/>
            <a:ext cx="3657600" cy="320040"/>
          </a:xfrm>
          <a:prstGeom prst="rect">
            <a:avLst/>
          </a:prstGeom>
          <a:noFill/>
          <a:ln/>
        </p:spPr>
        <p:txBody>
          <a:bodyPr wrap="square" lIns="0" tIns="0" rIns="0" bIns="0" rtlCol="0" anchor="ctr"/>
          <a:lstStyle/>
          <a:p>
            <a:pPr indent="0" marL="0">
              <a:buNone/>
            </a:pPr>
            <a:r>
              <a:rPr lang="en-US" sz="2300" b="1" dirty="0">
                <a:solidFill>
                  <a:srgbClr val="247E70"/>
                </a:solidFill>
                <a:latin typeface="Arial" pitchFamily="34" charset="0"/>
                <a:ea typeface="Arial" pitchFamily="34" charset="-122"/>
                <a:cs typeface="Arial" pitchFamily="34" charset="-120"/>
              </a:rPr>
              <a:t>Goal</a:t>
            </a:r>
            <a:endParaRPr lang="en-US" sz="2300" dirty="0"/>
          </a:p>
        </p:txBody>
      </p:sp>
      <p:sp>
        <p:nvSpPr>
          <p:cNvPr id="6" name="Text 4"/>
          <p:cNvSpPr/>
          <p:nvPr/>
        </p:nvSpPr>
        <p:spPr>
          <a:xfrm>
            <a:off x="548640" y="2212848"/>
            <a:ext cx="3657600" cy="1051560"/>
          </a:xfrm>
          <a:prstGeom prst="rect">
            <a:avLst/>
          </a:prstGeom>
          <a:noFill/>
          <a:ln/>
        </p:spPr>
        <p:txBody>
          <a:bodyPr wrap="square" lIns="0" tIns="0" rIns="0" bIns="0" rtlCol="0" anchor="ctr"/>
          <a:lstStyle/>
          <a:p>
            <a:pPr indent="0" marL="0">
              <a:buNone/>
            </a:pPr>
            <a:r>
              <a:rPr lang="en-US" sz="2800" b="1" dirty="0">
                <a:solidFill>
                  <a:srgbClr val="232B60"/>
                </a:solidFill>
                <a:latin typeface="Arial" pitchFamily="34" charset="0"/>
                <a:ea typeface="Arial" pitchFamily="34" charset="-122"/>
                <a:cs typeface="Arial" pitchFamily="34" charset="-120"/>
              </a:rPr>
              <a:t>Predict the J=0 curve from a coupled CPMG-RD curve.</a:t>
            </a:r>
            <a:endParaRPr lang="en-US" sz="2800" dirty="0"/>
          </a:p>
        </p:txBody>
      </p:sp>
      <p:sp>
        <p:nvSpPr>
          <p:cNvPr id="7" name="Text 5"/>
          <p:cNvSpPr/>
          <p:nvPr/>
        </p:nvSpPr>
        <p:spPr>
          <a:xfrm>
            <a:off x="548640" y="3529584"/>
            <a:ext cx="3566160" cy="1024128"/>
          </a:xfrm>
          <a:prstGeom prst="rect">
            <a:avLst/>
          </a:prstGeom>
          <a:noFill/>
          <a:ln/>
        </p:spPr>
        <p:txBody>
          <a:bodyPr wrap="square" lIns="0" tIns="0" rIns="0" bIns="0" rtlCol="0" anchor="ctr"/>
          <a:lstStyle/>
          <a:p>
            <a:pPr indent="0" marL="0">
              <a:buNone/>
            </a:pPr>
            <a:r>
              <a:rPr lang="en-US" sz="2300" dirty="0">
                <a:solidFill>
                  <a:srgbClr val="232B60"/>
                </a:solidFill>
                <a:latin typeface="Arial" pitchFamily="34" charset="0"/>
                <a:ea typeface="Arial" pitchFamily="34" charset="-122"/>
                <a:cs typeface="Arial" pitchFamily="34" charset="-120"/>
              </a:rPr>
              <a:t>Preserve the exchange information used to estimate kex, pB and |Δω|.</a:t>
            </a:r>
            <a:endParaRPr lang="en-US" sz="2300" dirty="0"/>
          </a:p>
        </p:txBody>
      </p:sp>
      <p:sp>
        <p:nvSpPr>
          <p:cNvPr id="8" name="Text 6"/>
          <p:cNvSpPr/>
          <p:nvPr/>
        </p:nvSpPr>
        <p:spPr>
          <a:xfrm>
            <a:off x="548640" y="4892040"/>
            <a:ext cx="3566160" cy="868680"/>
          </a:xfrm>
          <a:prstGeom prst="rect">
            <a:avLst/>
          </a:prstGeom>
          <a:noFill/>
          <a:ln/>
        </p:spPr>
        <p:txBody>
          <a:bodyPr wrap="square" lIns="0" tIns="0" rIns="0" bIns="0" rtlCol="0" anchor="ctr"/>
          <a:lstStyle/>
          <a:p>
            <a:pPr indent="0" marL="0">
              <a:buNone/>
            </a:pPr>
            <a:r>
              <a:rPr lang="en-US" sz="2000" dirty="0">
                <a:solidFill>
                  <a:srgbClr val="566171"/>
                </a:solidFill>
                <a:latin typeface="Arial" pitchFamily="34" charset="0"/>
                <a:ea typeface="Arial" pitchFamily="34" charset="-122"/>
                <a:cs typeface="Arial" pitchFamily="34" charset="-120"/>
              </a:rPr>
              <a:t>Current status: synthetic proof of concept with downstream fitting tests.</a:t>
            </a:r>
            <a:endParaRPr lang="en-US" sz="2000" dirty="0"/>
          </a:p>
        </p:txBody>
      </p:sp>
      <p:graphicFrame>
        <p:nvGraphicFramePr>
          <p:cNvPr id="9" name="Chart 0" descr=""/>
          <p:cNvGraphicFramePr/>
          <p:nvPr/>
        </p:nvGraphicFramePr>
        <p:xfrm>
          <a:off x="4434840" y="1938528"/>
          <a:ext cx="7178040" cy="35661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4526280" y="5650992"/>
            <a:ext cx="6858000" cy="521208"/>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600 MHz, kex = 600 s⁻¹, pB = 0.05, |Δω| = 3 ppm</a:t>
            </a:r>
            <a:endParaRPr lang="en-US" sz="1600" dirty="0"/>
          </a:p>
          <a:p>
            <a:pPr indent="0" marL="0">
              <a:buNone/>
            </a:pPr>
            <a:r>
              <a:rPr lang="en-US" sz="1600" dirty="0">
                <a:solidFill>
                  <a:srgbClr val="566171"/>
                </a:solidFill>
                <a:latin typeface="Arial" pitchFamily="34" charset="0"/>
                <a:ea typeface="Arial" pitchFamily="34" charset="-122"/>
                <a:cs typeface="Arial" pitchFamily="34" charset="-120"/>
              </a:rPr>
              <a:t>J = 92 Hz input, T = 40 ms, reference SNR = 100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09960" cy="566928"/>
          </a:xfrm>
          <a:prstGeom prst="rect">
            <a:avLst/>
          </a:prstGeom>
          <a:noFill/>
          <a:ln/>
        </p:spPr>
        <p:txBody>
          <a:bodyPr wrap="square" lIns="0" tIns="0" rIns="0" bIns="0" rtlCol="0" anchor="ctr"/>
          <a:lstStyle/>
          <a:p>
            <a:pPr indent="0" marL="0">
              <a:buNone/>
            </a:pPr>
            <a:r>
              <a:rPr lang="en-US" sz="3400" b="1" dirty="0">
                <a:solidFill>
                  <a:srgbClr val="232B60"/>
                </a:solidFill>
                <a:latin typeface="Arial" pitchFamily="34" charset="0"/>
                <a:ea typeface="Arial" pitchFamily="34" charset="-122"/>
                <a:cs typeface="Arial" pitchFamily="34" charset="-120"/>
              </a:rPr>
              <a:t>The CNN learns the synthetic correction</a:t>
            </a:r>
            <a:endParaRPr lang="en-US" sz="3400" dirty="0"/>
          </a:p>
        </p:txBody>
      </p:sp>
      <p:sp>
        <p:nvSpPr>
          <p:cNvPr id="3" name="Text 1"/>
          <p:cNvSpPr/>
          <p:nvPr/>
        </p:nvSpPr>
        <p:spPr>
          <a:xfrm>
            <a:off x="521208" y="987552"/>
            <a:ext cx="11109960" cy="548640"/>
          </a:xfrm>
          <a:prstGeom prst="rect">
            <a:avLst/>
          </a:prstGeom>
          <a:noFill/>
          <a:ln/>
        </p:spPr>
        <p:txBody>
          <a:bodyPr wrap="square" lIns="0" tIns="0" rIns="0" bIns="0" rtlCol="0" anchor="ctr"/>
          <a:lstStyle/>
          <a:p>
            <a:pPr indent="0" marL="0">
              <a:buNone/>
            </a:pPr>
            <a:r>
              <a:rPr lang="en-US" sz="1800" dirty="0">
                <a:solidFill>
                  <a:srgbClr val="566171"/>
                </a:solidFill>
                <a:latin typeface="Arial" pitchFamily="34" charset="0"/>
                <a:ea typeface="Arial" pitchFamily="34" charset="-122"/>
                <a:cs typeface="Arial" pitchFamily="34" charset="-120"/>
              </a:rPr>
              <a:t>500,000 training profiles, 20,000 validation profiles and 20,000 original test profiles</a:t>
            </a:r>
            <a:endParaRPr lang="en-US" sz="1800" dirty="0"/>
          </a:p>
        </p:txBody>
      </p:sp>
      <p:sp>
        <p:nvSpPr>
          <p:cNvPr id="4" name="Text 2"/>
          <p:cNvSpPr/>
          <p:nvPr/>
        </p:nvSpPr>
        <p:spPr>
          <a:xfrm>
            <a:off x="521208" y="6437376"/>
            <a:ext cx="10881360" cy="237744"/>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11 September 2026   •   2/6</a:t>
            </a:r>
            <a:endParaRPr lang="en-US" sz="1600" dirty="0"/>
          </a:p>
        </p:txBody>
      </p:sp>
      <p:graphicFrame>
        <p:nvGraphicFramePr>
          <p:cNvPr id="5" name="Chart 0" descr=""/>
          <p:cNvGraphicFramePr/>
          <p:nvPr/>
        </p:nvGraphicFramePr>
        <p:xfrm>
          <a:off x="502920" y="1856232"/>
          <a:ext cx="6995160" cy="409651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63840" y="1920240"/>
            <a:ext cx="3657600" cy="548640"/>
          </a:xfrm>
          <a:prstGeom prst="rect">
            <a:avLst/>
          </a:prstGeom>
          <a:noFill/>
          <a:ln/>
        </p:spPr>
        <p:txBody>
          <a:bodyPr wrap="square" lIns="0" tIns="0" rIns="0" bIns="0" rtlCol="0" anchor="ctr"/>
          <a:lstStyle/>
          <a:p>
            <a:pPr indent="0" marL="0">
              <a:buNone/>
            </a:pPr>
            <a:r>
              <a:rPr lang="en-US" sz="3400" b="1" dirty="0">
                <a:solidFill>
                  <a:srgbClr val="247E70"/>
                </a:solidFill>
                <a:latin typeface="Arial" pitchFamily="34" charset="0"/>
                <a:ea typeface="Arial" pitchFamily="34" charset="-122"/>
                <a:cs typeface="Arial" pitchFamily="34" charset="-120"/>
              </a:rPr>
              <a:t>0.05324 s⁻¹</a:t>
            </a:r>
            <a:endParaRPr lang="en-US" sz="3400" dirty="0"/>
          </a:p>
        </p:txBody>
      </p:sp>
      <p:sp>
        <p:nvSpPr>
          <p:cNvPr id="7" name="Text 4"/>
          <p:cNvSpPr/>
          <p:nvPr/>
        </p:nvSpPr>
        <p:spPr>
          <a:xfrm>
            <a:off x="7863840" y="2596896"/>
            <a:ext cx="3657600" cy="932688"/>
          </a:xfrm>
          <a:prstGeom prst="rect">
            <a:avLst/>
          </a:prstGeom>
          <a:noFill/>
          <a:ln/>
        </p:spPr>
        <p:txBody>
          <a:bodyPr wrap="square" lIns="0" tIns="0" rIns="0" bIns="0" rtlCol="0" anchor="ctr"/>
          <a:lstStyle/>
          <a:p>
            <a:pPr indent="0" marL="0">
              <a:buNone/>
            </a:pPr>
            <a:r>
              <a:rPr lang="en-US" sz="2100" dirty="0">
                <a:solidFill>
                  <a:srgbClr val="232B60"/>
                </a:solidFill>
                <a:latin typeface="Arial" pitchFamily="34" charset="0"/>
                <a:ea typeface="Arial" pitchFamily="34" charset="-122"/>
                <a:cs typeface="Arial" pitchFamily="34" charset="-120"/>
              </a:rPr>
              <a:t>CNN RMSE after excluding 7 test profiles duplicated in training.</a:t>
            </a:r>
            <a:endParaRPr lang="en-US" sz="2100" dirty="0"/>
          </a:p>
        </p:txBody>
      </p:sp>
      <p:sp>
        <p:nvSpPr>
          <p:cNvPr id="8" name="Text 5"/>
          <p:cNvSpPr/>
          <p:nvPr/>
        </p:nvSpPr>
        <p:spPr>
          <a:xfrm>
            <a:off x="7863840" y="3813048"/>
            <a:ext cx="3703320" cy="603504"/>
          </a:xfrm>
          <a:prstGeom prst="rect">
            <a:avLst/>
          </a:prstGeom>
          <a:noFill/>
          <a:ln/>
        </p:spPr>
        <p:txBody>
          <a:bodyPr wrap="square" lIns="0" tIns="0" rIns="0" bIns="0" rtlCol="0" anchor="ctr"/>
          <a:lstStyle/>
          <a:p>
            <a:pPr indent="0" marL="0">
              <a:buNone/>
            </a:pPr>
            <a:r>
              <a:rPr lang="en-US" sz="2300" b="1" dirty="0">
                <a:solidFill>
                  <a:srgbClr val="232B60"/>
                </a:solidFill>
                <a:latin typeface="Arial" pitchFamily="34" charset="0"/>
                <a:ea typeface="Arial" pitchFamily="34" charset="-122"/>
                <a:cs typeface="Arial" pitchFamily="34" charset="-120"/>
              </a:rPr>
              <a:t>Matrix comparison: max difference 0</a:t>
            </a:r>
            <a:endParaRPr lang="en-US" sz="2300" dirty="0"/>
          </a:p>
        </p:txBody>
      </p:sp>
      <p:sp>
        <p:nvSpPr>
          <p:cNvPr id="9" name="Text 6"/>
          <p:cNvSpPr/>
          <p:nvPr/>
        </p:nvSpPr>
        <p:spPr>
          <a:xfrm>
            <a:off x="7863840" y="4553712"/>
            <a:ext cx="3703320" cy="1069848"/>
          </a:xfrm>
          <a:prstGeom prst="rect">
            <a:avLst/>
          </a:prstGeom>
          <a:noFill/>
          <a:ln/>
        </p:spPr>
        <p:txBody>
          <a:bodyPr wrap="square" lIns="0" tIns="0" rIns="0" bIns="0" rtlCol="0" anchor="ctr"/>
          <a:lstStyle/>
          <a:p>
            <a:pPr indent="0" marL="0">
              <a:buNone/>
            </a:pPr>
            <a:r>
              <a:rPr lang="en-US" sz="2000" dirty="0">
                <a:solidFill>
                  <a:srgbClr val="566171"/>
                </a:solidFill>
                <a:latin typeface="Arial" pitchFamily="34" charset="0"/>
                <a:ea typeface="Arial" pitchFamily="34" charset="-122"/>
                <a:cs typeface="Arial" pitchFamily="34" charset="-120"/>
              </a:rPr>
              <a:t>30×30 homogeneous block, with shared supplied relaxation rates. Independent rate checks remain.</a:t>
            </a:r>
            <a:endParaRPr lang="en-US" sz="2000" dirty="0"/>
          </a:p>
        </p:txBody>
      </p:sp>
      <p:sp>
        <p:nvSpPr>
          <p:cNvPr id="10" name="Text 7"/>
          <p:cNvSpPr/>
          <p:nvPr/>
        </p:nvSpPr>
        <p:spPr>
          <a:xfrm>
            <a:off x="566928" y="5980176"/>
            <a:ext cx="10972800" cy="320040"/>
          </a:xfrm>
          <a:prstGeom prst="rect">
            <a:avLst/>
          </a:prstGeom>
          <a:noFill/>
          <a:ln/>
        </p:spPr>
        <p:txBody>
          <a:bodyPr wrap="square" lIns="0" tIns="0" rIns="0" bIns="0" rtlCol="0" anchor="ctr"/>
          <a:lstStyle/>
          <a:p>
            <a:pPr indent="0" marL="0">
              <a:buNone/>
            </a:pPr>
            <a:r>
              <a:rPr lang="en-US" sz="1700" dirty="0">
                <a:solidFill>
                  <a:srgbClr val="566171"/>
                </a:solidFill>
                <a:latin typeface="Arial" pitchFamily="34" charset="0"/>
                <a:ea typeface="Arial" pitchFamily="34" charset="-122"/>
                <a:cs typeface="Arial" pitchFamily="34" charset="-120"/>
              </a:rPr>
              <a:t>CNN inputs: curve, frequency, B₀, B₁ and J. No ground-truth exchange parameters.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09960" cy="566928"/>
          </a:xfrm>
          <a:prstGeom prst="rect">
            <a:avLst/>
          </a:prstGeom>
          <a:noFill/>
          <a:ln/>
        </p:spPr>
        <p:txBody>
          <a:bodyPr wrap="square" lIns="0" tIns="0" rIns="0" bIns="0" rtlCol="0" anchor="ctr"/>
          <a:lstStyle/>
          <a:p>
            <a:pPr indent="0" marL="0">
              <a:buNone/>
            </a:pPr>
            <a:r>
              <a:rPr lang="en-US" sz="3400" b="1" dirty="0">
                <a:solidFill>
                  <a:srgbClr val="232B60"/>
                </a:solidFill>
                <a:latin typeface="Arial" pitchFamily="34" charset="0"/>
                <a:ea typeface="Arial" pitchFamily="34" charset="-122"/>
                <a:cs typeface="Arial" pitchFamily="34" charset="-120"/>
              </a:rPr>
              <a:t>Noise handling needs a more careful benchmark</a:t>
            </a:r>
            <a:endParaRPr lang="en-US" sz="3400" dirty="0"/>
          </a:p>
        </p:txBody>
      </p:sp>
      <p:sp>
        <p:nvSpPr>
          <p:cNvPr id="3" name="Text 1"/>
          <p:cNvSpPr/>
          <p:nvPr/>
        </p:nvSpPr>
        <p:spPr>
          <a:xfrm>
            <a:off x="521208" y="987552"/>
            <a:ext cx="11109960" cy="548640"/>
          </a:xfrm>
          <a:prstGeom prst="rect">
            <a:avLst/>
          </a:prstGeom>
          <a:noFill/>
          <a:ln/>
        </p:spPr>
        <p:txBody>
          <a:bodyPr wrap="square" lIns="0" tIns="0" rIns="0" bIns="0" rtlCol="0" anchor="ctr"/>
          <a:lstStyle/>
          <a:p>
            <a:pPr indent="0" marL="0">
              <a:buNone/>
            </a:pPr>
            <a:r>
              <a:rPr lang="en-US" sz="1800" dirty="0">
                <a:solidFill>
                  <a:srgbClr val="566171"/>
                </a:solidFill>
                <a:latin typeface="Arial" pitchFamily="34" charset="0"/>
                <a:ea typeface="Arial" pitchFamily="34" charset="-122"/>
                <a:cs typeface="Arial" pitchFamily="34" charset="-120"/>
              </a:rPr>
              <a:t>Noise enters peak intensities. Taking the logarithm amplifies errors at weak intensities.</a:t>
            </a:r>
            <a:endParaRPr lang="en-US" sz="1800" dirty="0"/>
          </a:p>
        </p:txBody>
      </p:sp>
      <p:sp>
        <p:nvSpPr>
          <p:cNvPr id="4" name="Text 2"/>
          <p:cNvSpPr/>
          <p:nvPr/>
        </p:nvSpPr>
        <p:spPr>
          <a:xfrm>
            <a:off x="521208" y="6437376"/>
            <a:ext cx="10881360" cy="237744"/>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11 September 2026   •   3/6</a:t>
            </a:r>
            <a:endParaRPr lang="en-US" sz="1600" dirty="0"/>
          </a:p>
        </p:txBody>
      </p:sp>
      <p:graphicFrame>
        <p:nvGraphicFramePr>
          <p:cNvPr id="5" name="Chart 0" descr=""/>
          <p:cNvGraphicFramePr/>
          <p:nvPr/>
        </p:nvGraphicFramePr>
        <p:xfrm>
          <a:off x="502920" y="187452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63840" y="1993392"/>
            <a:ext cx="3657600" cy="384048"/>
          </a:xfrm>
          <a:prstGeom prst="rect">
            <a:avLst/>
          </a:prstGeom>
          <a:noFill/>
          <a:ln/>
        </p:spPr>
        <p:txBody>
          <a:bodyPr wrap="square" lIns="0" tIns="0" rIns="0" bIns="0" rtlCol="0" anchor="ctr"/>
          <a:lstStyle/>
          <a:p>
            <a:pPr indent="0" marL="0">
              <a:buNone/>
            </a:pPr>
            <a:r>
              <a:rPr lang="en-US" sz="2300" b="1" dirty="0">
                <a:solidFill>
                  <a:srgbClr val="232B60"/>
                </a:solidFill>
                <a:latin typeface="Arial" pitchFamily="34" charset="0"/>
                <a:ea typeface="Arial" pitchFamily="34" charset="-122"/>
                <a:cs typeface="Arial" pitchFamily="34" charset="-120"/>
              </a:rPr>
              <a:t>Same evaluation subset</a:t>
            </a:r>
            <a:endParaRPr lang="en-US" sz="2300" dirty="0"/>
          </a:p>
        </p:txBody>
      </p:sp>
      <p:sp>
        <p:nvSpPr>
          <p:cNvPr id="7" name="Text 4"/>
          <p:cNvSpPr/>
          <p:nvPr/>
        </p:nvSpPr>
        <p:spPr>
          <a:xfrm>
            <a:off x="7863840" y="2651760"/>
            <a:ext cx="3657600" cy="1298448"/>
          </a:xfrm>
          <a:prstGeom prst="rect">
            <a:avLst/>
          </a:prstGeom>
          <a:noFill/>
          <a:ln/>
        </p:spPr>
        <p:txBody>
          <a:bodyPr wrap="square" lIns="0" tIns="0" rIns="0" bIns="0" rtlCol="0" anchor="ctr"/>
          <a:lstStyle/>
          <a:p>
            <a:pPr indent="0" marL="0">
              <a:buNone/>
            </a:pPr>
            <a:r>
              <a:rPr lang="en-US" sz="1900" dirty="0">
                <a:solidFill>
                  <a:srgbClr val="232B60"/>
                </a:solidFill>
                <a:latin typeface="Arial" pitchFamily="34" charset="0"/>
                <a:ea typeface="Arial" pitchFamily="34" charset="-122"/>
                <a:cs typeface="Arial" pitchFamily="34" charset="-120"/>
              </a:rPr>
              <a:t>Expected intensity ≥ 0.05 I₀</a:t>
            </a:r>
            <a:endParaRPr lang="en-US" sz="1900" dirty="0"/>
          </a:p>
          <a:p>
            <a:pPr indent="0" marL="0">
              <a:buNone/>
            </a:pPr>
            <a:r>
              <a:rPr lang="en-US" sz="1900" dirty="0">
                <a:solidFill>
                  <a:srgbClr val="232B60"/>
                </a:solidFill>
                <a:latin typeface="Arial" pitchFamily="34" charset="0"/>
                <a:ea typeface="Arial" pitchFamily="34" charset="-122"/>
                <a:cs typeface="Arial" pitchFamily="34" charset="-120"/>
              </a:rPr>
              <a:t>19,663 profiles with retained points</a:t>
            </a:r>
            <a:endParaRPr lang="en-US" sz="1900" dirty="0"/>
          </a:p>
          <a:p>
            <a:pPr indent="0" marL="0">
              <a:buNone/>
            </a:pPr>
            <a:r>
              <a:rPr lang="en-US" sz="1900" dirty="0">
                <a:solidFill>
                  <a:srgbClr val="232B60"/>
                </a:solidFill>
                <a:latin typeface="Arial" pitchFamily="34" charset="0"/>
                <a:ea typeface="Arial" pitchFamily="34" charset="-122"/>
                <a:cs typeface="Arial" pitchFamily="34" charset="-120"/>
              </a:rPr>
              <a:t>Three new noise draws at SNR 100</a:t>
            </a:r>
            <a:endParaRPr lang="en-US" sz="1900" dirty="0"/>
          </a:p>
        </p:txBody>
      </p:sp>
      <p:sp>
        <p:nvSpPr>
          <p:cNvPr id="8" name="Text 5"/>
          <p:cNvSpPr/>
          <p:nvPr/>
        </p:nvSpPr>
        <p:spPr>
          <a:xfrm>
            <a:off x="7863840" y="4251960"/>
            <a:ext cx="3657600" cy="393192"/>
          </a:xfrm>
          <a:prstGeom prst="rect">
            <a:avLst/>
          </a:prstGeom>
          <a:noFill/>
          <a:ln/>
        </p:spPr>
        <p:txBody>
          <a:bodyPr wrap="square" lIns="0" tIns="0" rIns="0" bIns="0" rtlCol="0" anchor="ctr"/>
          <a:lstStyle/>
          <a:p>
            <a:pPr indent="0" marL="0">
              <a:buNone/>
            </a:pPr>
            <a:r>
              <a:rPr lang="en-US" sz="2200" b="1" dirty="0">
                <a:solidFill>
                  <a:srgbClr val="247E70"/>
                </a:solidFill>
                <a:latin typeface="Arial" pitchFamily="34" charset="0"/>
                <a:ea typeface="Arial" pitchFamily="34" charset="-122"/>
                <a:cs typeface="Arial" pitchFamily="34" charset="-120"/>
              </a:rPr>
              <a:t>Revised interpretation</a:t>
            </a:r>
            <a:endParaRPr lang="en-US" sz="2200" dirty="0"/>
          </a:p>
        </p:txBody>
      </p:sp>
      <p:sp>
        <p:nvSpPr>
          <p:cNvPr id="9" name="Text 6"/>
          <p:cNvSpPr/>
          <p:nvPr/>
        </p:nvSpPr>
        <p:spPr>
          <a:xfrm>
            <a:off x="7863840" y="4782312"/>
            <a:ext cx="3657600" cy="1024128"/>
          </a:xfrm>
          <a:prstGeom prst="rect">
            <a:avLst/>
          </a:prstGeom>
          <a:noFill/>
          <a:ln/>
        </p:spPr>
        <p:txBody>
          <a:bodyPr wrap="square" lIns="0" tIns="0" rIns="0" bIns="0" rtlCol="0" anchor="ctr"/>
          <a:lstStyle/>
          <a:p>
            <a:pPr indent="0" marL="0">
              <a:buNone/>
            </a:pPr>
            <a:r>
              <a:rPr lang="en-US" sz="2000" dirty="0">
                <a:solidFill>
                  <a:srgbClr val="232B60"/>
                </a:solidFill>
                <a:latin typeface="Arial" pitchFamily="34" charset="0"/>
                <a:ea typeface="Arial" pitchFamily="34" charset="-122"/>
                <a:cs typeface="Arial" pitchFamily="34" charset="-120"/>
              </a:rPr>
              <a:t>Shared-reference covariance checked. The earlier “hard recovery ceiling” claim is withdrawn.</a:t>
            </a:r>
            <a:endParaRPr lang="en-US" sz="2000" dirty="0"/>
          </a:p>
        </p:txBody>
      </p:sp>
      <p:sp>
        <p:nvSpPr>
          <p:cNvPr id="10" name="Text 7"/>
          <p:cNvSpPr/>
          <p:nvPr/>
        </p:nvSpPr>
        <p:spPr>
          <a:xfrm>
            <a:off x="566928" y="6007608"/>
            <a:ext cx="10972800" cy="292608"/>
          </a:xfrm>
          <a:prstGeom prst="rect">
            <a:avLst/>
          </a:prstGeom>
          <a:noFill/>
          <a:ln/>
        </p:spPr>
        <p:txBody>
          <a:bodyPr wrap="square" lIns="0" tIns="0" rIns="0" bIns="0" rtlCol="0" anchor="ctr"/>
          <a:lstStyle/>
          <a:p>
            <a:pPr indent="0" marL="0">
              <a:buNone/>
            </a:pPr>
            <a:r>
              <a:rPr lang="en-US" sz="1700" dirty="0">
                <a:solidFill>
                  <a:srgbClr val="566171"/>
                </a:solidFill>
                <a:latin typeface="Arial" pitchFamily="34" charset="0"/>
                <a:ea typeface="Arial" pitchFamily="34" charset="-122"/>
                <a:cs typeface="Arial" pitchFamily="34" charset="-120"/>
              </a:rPr>
              <a:t>Truth-based mask for this retrospective check. Full-point noisy CNN RMSE is 3.369 s⁻¹.</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09960" cy="566928"/>
          </a:xfrm>
          <a:prstGeom prst="rect">
            <a:avLst/>
          </a:prstGeom>
          <a:noFill/>
          <a:ln/>
        </p:spPr>
        <p:txBody>
          <a:bodyPr wrap="square" lIns="0" tIns="0" rIns="0" bIns="0" rtlCol="0" anchor="ctr"/>
          <a:lstStyle/>
          <a:p>
            <a:pPr indent="0" marL="0">
              <a:buNone/>
            </a:pPr>
            <a:r>
              <a:rPr lang="en-US" sz="3400" b="1" dirty="0">
                <a:solidFill>
                  <a:srgbClr val="232B60"/>
                </a:solidFill>
                <a:latin typeface="Arial" pitchFamily="34" charset="0"/>
                <a:ea typeface="Arial" pitchFamily="34" charset="-122"/>
                <a:cs typeface="Arial" pitchFamily="34" charset="-120"/>
              </a:rPr>
              <a:t>Correction improves fitting, but residual bias remains</a:t>
            </a:r>
            <a:endParaRPr lang="en-US" sz="3400" dirty="0"/>
          </a:p>
        </p:txBody>
      </p:sp>
      <p:sp>
        <p:nvSpPr>
          <p:cNvPr id="3" name="Text 1"/>
          <p:cNvSpPr/>
          <p:nvPr/>
        </p:nvSpPr>
        <p:spPr>
          <a:xfrm>
            <a:off x="521208" y="987552"/>
            <a:ext cx="11109960" cy="548640"/>
          </a:xfrm>
          <a:prstGeom prst="rect">
            <a:avLst/>
          </a:prstGeom>
          <a:noFill/>
          <a:ln/>
        </p:spPr>
        <p:txBody>
          <a:bodyPr wrap="square" lIns="0" tIns="0" rIns="0" bIns="0" rtlCol="0" anchor="ctr"/>
          <a:lstStyle/>
          <a:p>
            <a:pPr indent="0" marL="0">
              <a:buNone/>
            </a:pPr>
            <a:r>
              <a:rPr lang="en-US" sz="1800" dirty="0">
                <a:solidFill>
                  <a:srgbClr val="566171"/>
                </a:solidFill>
                <a:latin typeface="Arial" pitchFamily="34" charset="0"/>
                <a:ea typeface="Arial" pitchFamily="34" charset="-122"/>
                <a:cs typeface="Arial" pitchFamily="34" charset="-120"/>
              </a:rPr>
              <a:t>New exploratory check: kex = 300, 600 and 1800 s⁻¹, two noise draws each, pB = 0.05</a:t>
            </a:r>
            <a:endParaRPr lang="en-US" sz="1800" dirty="0"/>
          </a:p>
        </p:txBody>
      </p:sp>
      <p:sp>
        <p:nvSpPr>
          <p:cNvPr id="4" name="Text 2"/>
          <p:cNvSpPr/>
          <p:nvPr/>
        </p:nvSpPr>
        <p:spPr>
          <a:xfrm>
            <a:off x="521208" y="6437376"/>
            <a:ext cx="10881360" cy="237744"/>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11 September 2026   •   4/6</a:t>
            </a:r>
            <a:endParaRPr lang="en-US" sz="1600" dirty="0"/>
          </a:p>
        </p:txBody>
      </p:sp>
      <p:graphicFrame>
        <p:nvGraphicFramePr>
          <p:cNvPr id="5" name="Chart 0" descr=""/>
          <p:cNvGraphicFramePr/>
          <p:nvPr/>
        </p:nvGraphicFramePr>
        <p:xfrm>
          <a:off x="475488" y="1847088"/>
          <a:ext cx="7406640" cy="4160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183880" y="1956816"/>
            <a:ext cx="3474720" cy="594360"/>
          </a:xfrm>
          <a:prstGeom prst="rect">
            <a:avLst/>
          </a:prstGeom>
          <a:noFill/>
          <a:ln/>
        </p:spPr>
        <p:txBody>
          <a:bodyPr wrap="square" lIns="0" tIns="0" rIns="0" bIns="0" rtlCol="0" anchor="ctr"/>
          <a:lstStyle/>
          <a:p>
            <a:pPr indent="0" marL="0">
              <a:buNone/>
            </a:pPr>
            <a:r>
              <a:rPr lang="en-US" sz="2300" b="1" dirty="0">
                <a:solidFill>
                  <a:srgbClr val="247E70"/>
                </a:solidFill>
                <a:latin typeface="Arial" pitchFamily="34" charset="0"/>
                <a:ea typeface="Arial" pitchFamily="34" charset="-122"/>
                <a:cs typeface="Arial" pitchFamily="34" charset="-120"/>
              </a:rPr>
              <a:t>Improved after correction</a:t>
            </a:r>
            <a:endParaRPr lang="en-US" sz="2300" dirty="0"/>
          </a:p>
        </p:txBody>
      </p:sp>
      <p:sp>
        <p:nvSpPr>
          <p:cNvPr id="7" name="Text 4"/>
          <p:cNvSpPr/>
          <p:nvPr/>
        </p:nvSpPr>
        <p:spPr>
          <a:xfrm>
            <a:off x="8183880" y="2779776"/>
            <a:ext cx="3291840" cy="1161288"/>
          </a:xfrm>
          <a:prstGeom prst="rect">
            <a:avLst/>
          </a:prstGeom>
          <a:noFill/>
          <a:ln/>
        </p:spPr>
        <p:txBody>
          <a:bodyPr wrap="square" lIns="0" tIns="0" rIns="0" bIns="0" rtlCol="0" anchor="ctr"/>
          <a:lstStyle/>
          <a:p>
            <a:pPr indent="0" marL="0">
              <a:buNone/>
            </a:pPr>
            <a:r>
              <a:rPr lang="en-US" sz="2400" dirty="0">
                <a:solidFill>
                  <a:srgbClr val="232B60"/>
                </a:solidFill>
                <a:latin typeface="Arial" pitchFamily="34" charset="0"/>
                <a:ea typeface="Arial" pitchFamily="34" charset="-122"/>
                <a:cs typeface="Arial" pitchFamily="34" charset="-120"/>
              </a:rPr>
              <a:t>kex: 6/6 cases</a:t>
            </a:r>
            <a:endParaRPr lang="en-US" sz="2400" dirty="0"/>
          </a:p>
          <a:p>
            <a:pPr indent="0" marL="0">
              <a:buNone/>
            </a:pPr>
            <a:r>
              <a:rPr lang="en-US" sz="2400" dirty="0">
                <a:solidFill>
                  <a:srgbClr val="232B60"/>
                </a:solidFill>
                <a:latin typeface="Arial" pitchFamily="34" charset="0"/>
                <a:ea typeface="Arial" pitchFamily="34" charset="-122"/>
                <a:cs typeface="Arial" pitchFamily="34" charset="-120"/>
              </a:rPr>
              <a:t>pB: 5/6 cases</a:t>
            </a:r>
            <a:endParaRPr lang="en-US" sz="2400" dirty="0"/>
          </a:p>
          <a:p>
            <a:pPr indent="0" marL="0">
              <a:buNone/>
            </a:pPr>
            <a:r>
              <a:rPr lang="en-US" sz="2400" dirty="0">
                <a:solidFill>
                  <a:srgbClr val="232B60"/>
                </a:solidFill>
                <a:latin typeface="Arial" pitchFamily="34" charset="0"/>
                <a:ea typeface="Arial" pitchFamily="34" charset="-122"/>
                <a:cs typeface="Arial" pitchFamily="34" charset="-120"/>
              </a:rPr>
              <a:t>|Δω|: 6/6 cases</a:t>
            </a:r>
            <a:endParaRPr lang="en-US" sz="2400" dirty="0"/>
          </a:p>
        </p:txBody>
      </p:sp>
      <p:sp>
        <p:nvSpPr>
          <p:cNvPr id="8" name="Text 5"/>
          <p:cNvSpPr/>
          <p:nvPr/>
        </p:nvSpPr>
        <p:spPr>
          <a:xfrm>
            <a:off x="8183880" y="4279392"/>
            <a:ext cx="3429000" cy="1005840"/>
          </a:xfrm>
          <a:prstGeom prst="rect">
            <a:avLst/>
          </a:prstGeom>
          <a:noFill/>
          <a:ln/>
        </p:spPr>
        <p:txBody>
          <a:bodyPr wrap="square" lIns="0" tIns="0" rIns="0" bIns="0" rtlCol="0" anchor="ctr"/>
          <a:lstStyle/>
          <a:p>
            <a:pPr indent="0" marL="0">
              <a:buNone/>
            </a:pPr>
            <a:r>
              <a:rPr lang="en-US" sz="2200" b="1" dirty="0">
                <a:solidFill>
                  <a:srgbClr val="C27022"/>
                </a:solidFill>
                <a:latin typeface="Arial" pitchFamily="34" charset="0"/>
                <a:ea typeface="Arial" pitchFamily="34" charset="-122"/>
                <a:cs typeface="Arial" pitchFamily="34" charset="-120"/>
              </a:rPr>
              <a:t>At kex = 300 s⁻¹, corrected kex still has about 20–22% error.</a:t>
            </a:r>
            <a:endParaRPr lang="en-US" sz="2200" dirty="0"/>
          </a:p>
        </p:txBody>
      </p:sp>
      <p:sp>
        <p:nvSpPr>
          <p:cNvPr id="9" name="Text 6"/>
          <p:cNvSpPr/>
          <p:nvPr/>
        </p:nvSpPr>
        <p:spPr>
          <a:xfrm>
            <a:off x="566928" y="6044184"/>
            <a:ext cx="11064240" cy="320040"/>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600 + 800 MHz, 3 shifts, two fitting starts. Known R₁ fixed. Six cases, not population statistics.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09960" cy="566928"/>
          </a:xfrm>
          <a:prstGeom prst="rect">
            <a:avLst/>
          </a:prstGeom>
          <a:noFill/>
          <a:ln/>
        </p:spPr>
        <p:txBody>
          <a:bodyPr wrap="square" lIns="0" tIns="0" rIns="0" bIns="0" rtlCol="0" anchor="ctr"/>
          <a:lstStyle/>
          <a:p>
            <a:pPr indent="0" marL="0">
              <a:buNone/>
            </a:pPr>
            <a:r>
              <a:rPr lang="en-US" sz="3400" b="1" dirty="0">
                <a:solidFill>
                  <a:srgbClr val="232B60"/>
                </a:solidFill>
                <a:latin typeface="Arial" pitchFamily="34" charset="0"/>
                <a:ea typeface="Arial" pitchFamily="34" charset="-122"/>
                <a:cs typeface="Arial" pitchFamily="34" charset="-120"/>
              </a:rPr>
              <a:t>Remaining computational work</a:t>
            </a:r>
            <a:endParaRPr lang="en-US" sz="3400" dirty="0"/>
          </a:p>
        </p:txBody>
      </p:sp>
      <p:sp>
        <p:nvSpPr>
          <p:cNvPr id="3" name="Text 1"/>
          <p:cNvSpPr/>
          <p:nvPr/>
        </p:nvSpPr>
        <p:spPr>
          <a:xfrm>
            <a:off x="521208" y="987552"/>
            <a:ext cx="11109960" cy="548640"/>
          </a:xfrm>
          <a:prstGeom prst="rect">
            <a:avLst/>
          </a:prstGeom>
          <a:noFill/>
          <a:ln/>
        </p:spPr>
        <p:txBody>
          <a:bodyPr wrap="square" lIns="0" tIns="0" rIns="0" bIns="0" rtlCol="0" anchor="ctr"/>
          <a:lstStyle/>
          <a:p>
            <a:pPr indent="0" marL="0">
              <a:buNone/>
            </a:pPr>
            <a:r>
              <a:rPr lang="en-US" sz="1800" dirty="0">
                <a:solidFill>
                  <a:srgbClr val="566171"/>
                </a:solidFill>
                <a:latin typeface="Arial" pitchFamily="34" charset="0"/>
                <a:ea typeface="Arial" pitchFamily="34" charset="-122"/>
                <a:cs typeface="Arial" pitchFamily="34" charset="-120"/>
              </a:rPr>
              <a:t>The next milestone is reliable parameter recovery across a declared operating range.</a:t>
            </a:r>
            <a:endParaRPr lang="en-US" sz="1800" dirty="0"/>
          </a:p>
        </p:txBody>
      </p:sp>
      <p:sp>
        <p:nvSpPr>
          <p:cNvPr id="4" name="Text 2"/>
          <p:cNvSpPr/>
          <p:nvPr/>
        </p:nvSpPr>
        <p:spPr>
          <a:xfrm>
            <a:off x="521208" y="6437376"/>
            <a:ext cx="10881360" cy="237744"/>
          </a:xfrm>
          <a:prstGeom prst="rect">
            <a:avLst/>
          </a:prstGeom>
          <a:noFill/>
          <a:ln/>
        </p:spPr>
        <p:txBody>
          <a:bodyPr wrap="square" lIns="0" tIns="0" rIns="0" bIns="0" rtlCol="0" anchor="ctr"/>
          <a:lstStyle/>
          <a:p>
            <a:pPr indent="0" marL="0">
              <a:buNone/>
            </a:pPr>
            <a:r>
              <a:rPr lang="en-US" sz="1600" dirty="0">
                <a:solidFill>
                  <a:srgbClr val="566171"/>
                </a:solidFill>
                <a:latin typeface="Arial" pitchFamily="34" charset="0"/>
                <a:ea typeface="Arial" pitchFamily="34" charset="-122"/>
                <a:cs typeface="Arial" pitchFamily="34" charset="-120"/>
              </a:rPr>
              <a:t>11 September 2026   •   5/6</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18520" cy="3520440"/>
        </p:xfrm>
        <a:graphic>
          <a:graphicData uri="http://schemas.openxmlformats.org/drawingml/2006/table">
            <a:tbl>
              <a:tblPr/>
              <a:tblGrid>
                <a:gridCol w="1051560"/>
                <a:gridCol w="3657600"/>
                <a:gridCol w="6309360"/>
              </a:tblGrid>
              <a:tr h="704088">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Priority</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Work package</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Evidence needed</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r>
              <a:tr h="704088">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Residual fitting bias</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More exchange groups and noise draws.</a:t>
                      </a:r>
                      <a:endParaRPr lang="en-US" sz="1800" dirty="0">
                        <a:latin typeface="Arial" charset="0"/>
                        <a:ea typeface="Arial" charset="0"/>
                        <a:cs typeface="Arial" charset="0"/>
                      </a:endParaRPr>
                    </a:p>
                    <a:p>
                      <a:pPr algn="l" indent="0" marL="0">
                        <a:buNone/>
                      </a:pPr>
                      <a:r>
                        <a:rPr lang="en-US" sz="1800" dirty="0">
                          <a:solidFill>
                            <a:srgbClr val="232B60"/>
                          </a:solidFill>
                          <a:latin typeface="Arial" pitchFamily="34" charset="0"/>
                          <a:ea typeface="Arial" pitchFamily="34" charset="-122"/>
                          <a:cs typeface="Arial" pitchFamily="34" charset="-120"/>
                        </a:rPr>
                        <a:t>Coupled-target denoising control.</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r>
              <a:tr h="704088">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Weak-signal handling</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Intensity or mask-aware model.</a:t>
                      </a:r>
                      <a:endParaRPr lang="en-US" sz="1800" dirty="0">
                        <a:latin typeface="Arial" charset="0"/>
                        <a:ea typeface="Arial" charset="0"/>
                        <a:cs typeface="Arial" charset="0"/>
                      </a:endParaRPr>
                    </a:p>
                    <a:p>
                      <a:pPr algn="l" indent="0" marL="0">
                        <a:buNone/>
                      </a:pPr>
                      <a:r>
                        <a:rPr lang="en-US" sz="1800" dirty="0">
                          <a:solidFill>
                            <a:srgbClr val="232B60"/>
                          </a:solidFill>
                          <a:latin typeface="Arial" pitchFamily="34" charset="0"/>
                          <a:ea typeface="Arial" pitchFamily="34" charset="-122"/>
                          <a:cs typeface="Arial" pitchFamily="34" charset="-120"/>
                        </a:rPr>
                        <a:t>Calibrated uncertainty and rejection rules.</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r>
              <a:tr h="704088">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Fresh benchmark</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Disjoint seeds and ≥3 training runs.</a:t>
                      </a:r>
                      <a:endParaRPr lang="en-US" sz="1800" dirty="0">
                        <a:latin typeface="Arial" charset="0"/>
                        <a:ea typeface="Arial" charset="0"/>
                        <a:cs typeface="Arial" charset="0"/>
                      </a:endParaRPr>
                    </a:p>
                    <a:p>
                      <a:pPr algn="l" indent="0" marL="0">
                        <a:buNone/>
                      </a:pPr>
                      <a:r>
                        <a:rPr lang="en-US" sz="1800" dirty="0">
                          <a:solidFill>
                            <a:srgbClr val="232B60"/>
                          </a:solidFill>
                          <a:latin typeface="Arial" pitchFamily="34" charset="0"/>
                          <a:ea typeface="Arial" pitchFamily="34" charset="-122"/>
                          <a:cs typeface="Arial" pitchFamily="34" charset="-120"/>
                        </a:rPr>
                        <a:t>J=0 / no-exchange and held-out regimes.</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r>
              <a:tr h="704088">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4</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Experimental compatibility</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32B60"/>
                          </a:solidFill>
                          <a:latin typeface="Arial" pitchFamily="34" charset="0"/>
                          <a:ea typeface="Arial" pitchFamily="34" charset="-122"/>
                          <a:cs typeface="Arial" pitchFamily="34" charset="-120"/>
                        </a:rPr>
                        <a:t>B₁ / J errors and missing frequencies.</a:t>
                      </a:r>
                      <a:endParaRPr lang="en-US" sz="1800" dirty="0">
                        <a:latin typeface="Arial" charset="0"/>
                        <a:ea typeface="Arial" charset="0"/>
                        <a:cs typeface="Arial" charset="0"/>
                      </a:endParaRPr>
                    </a:p>
                    <a:p>
                      <a:pPr algn="l" indent="0" marL="0">
                        <a:buNone/>
                      </a:pPr>
                      <a:r>
                        <a:rPr lang="en-US" sz="1800" dirty="0">
                          <a:solidFill>
                            <a:srgbClr val="232B60"/>
                          </a:solidFill>
                          <a:latin typeface="Arial" pitchFamily="34" charset="0"/>
                          <a:ea typeface="Arial" pitchFamily="34" charset="-122"/>
                          <a:cs typeface="Arial" pitchFamily="34" charset="-120"/>
                        </a:rPr>
                        <a:t>Rate checks and consistent inference.</a:t>
                      </a:r>
                      <a:endParaRPr lang="en-US" sz="1800" dirty="0">
                        <a:latin typeface="Arial" charset="0"/>
                        <a:ea typeface="Arial" charset="0"/>
                        <a:cs typeface="Arial" charset="0"/>
                      </a:endParaRPr>
                    </a:p>
                  </a:txBody>
                  <a:tcPr marL="73152" marR="73152" marT="73152" marB="73152" anchor="mid">
                    <a:lnL w="10160" cap="flat" cmpd="sng" algn="ctr">
                      <a:solidFill>
                        <a:srgbClr val="DCE3E8"/>
                      </a:solidFill>
                      <a:prstDash val="solid"/>
                      <a:round/>
                      <a:headEnd type="none" w="med" len="med"/>
                      <a:tailEnd type="none" w="med" len="med"/>
                    </a:lnL>
                    <a:lnR w="10160" cap="flat" cmpd="sng" algn="ctr">
                      <a:solidFill>
                        <a:srgbClr val="DCE3E8"/>
                      </a:solidFill>
                      <a:prstDash val="solid"/>
                      <a:round/>
                      <a:headEnd type="none" w="med" len="med"/>
                      <a:tailEnd type="none" w="med" len="med"/>
                    </a:lnR>
                    <a:lnT w="10160" cap="flat" cmpd="sng" algn="ctr">
                      <a:solidFill>
                        <a:srgbClr val="DCE3E8"/>
                      </a:solidFill>
                      <a:prstDash val="solid"/>
                      <a:round/>
                      <a:headEnd type="none" w="med" len="med"/>
                      <a:tailEnd type="none" w="med" len="med"/>
                    </a:lnT>
                    <a:lnB w="10160" cap="flat" cmpd="sng" algn="ctr">
                      <a:solidFill>
                        <a:srgbClr val="DCE3E8"/>
                      </a:solidFill>
                      <a:prstDash val="solid"/>
                      <a:round/>
                      <a:headEnd type="none" w="med" len="med"/>
                      <a:tailEnd type="none" w="med" len="med"/>
                    </a:lnB>
                    <a:solidFill>
                      <a:srgbClr val="FFFFFF"/>
                    </a:solidFill>
                  </a:tcPr>
                </a:tc>
              </a:tr>
            </a:tbl>
          </a:graphicData>
        </a:graphic>
      </p:graphicFrame>
      <p:sp>
        <p:nvSpPr>
          <p:cNvPr id="6" name="Text 3"/>
          <p:cNvSpPr/>
          <p:nvPr/>
        </p:nvSpPr>
        <p:spPr>
          <a:xfrm>
            <a:off x="603504" y="5833872"/>
            <a:ext cx="10789920" cy="384048"/>
          </a:xfrm>
          <a:prstGeom prst="rect">
            <a:avLst/>
          </a:prstGeom>
          <a:noFill/>
          <a:ln/>
        </p:spPr>
        <p:txBody>
          <a:bodyPr wrap="square" lIns="0" tIns="0" rIns="0" bIns="0" rtlCol="0" anchor="ctr"/>
          <a:lstStyle/>
          <a:p>
            <a:pPr indent="0" marL="0">
              <a:buNone/>
            </a:pPr>
            <a:r>
              <a:rPr lang="en-US" sz="2000" b="1" dirty="0">
                <a:solidFill>
                  <a:srgbClr val="247E70"/>
                </a:solidFill>
                <a:latin typeface="Arial" pitchFamily="34" charset="0"/>
                <a:ea typeface="Arial" pitchFamily="34" charset="-122"/>
                <a:cs typeface="Arial" pitchFamily="34" charset="-120"/>
              </a:rPr>
              <a:t>Experimental planning can start in parallel. Broad parameter ranges remain unchanged.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B60"/>
        </a:solidFill>
      </p:bgPr>
    </p:bg>
    <p:spTree>
      <p:nvGrpSpPr>
        <p:cNvPr id="1" name=""/>
        <p:cNvGrpSpPr/>
        <p:nvPr/>
      </p:nvGrpSpPr>
      <p:grpSpPr>
        <a:xfrm>
          <a:off x="0" y="0"/>
          <a:ext cx="0" cy="0"/>
          <a:chOff x="0" y="0"/>
          <a:chExt cx="0" cy="0"/>
        </a:xfrm>
      </p:grpSpPr>
      <p:sp>
        <p:nvSpPr>
          <p:cNvPr id="2" name="Text 0"/>
          <p:cNvSpPr/>
          <p:nvPr/>
        </p:nvSpPr>
        <p:spPr>
          <a:xfrm>
            <a:off x="502920" y="320040"/>
            <a:ext cx="11109960" cy="56692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Decisions for the first experimental validation</a:t>
            </a:r>
            <a:endParaRPr lang="en-US" sz="3400" dirty="0"/>
          </a:p>
        </p:txBody>
      </p:sp>
      <p:sp>
        <p:nvSpPr>
          <p:cNvPr id="3" name="Text 1"/>
          <p:cNvSpPr/>
          <p:nvPr/>
        </p:nvSpPr>
        <p:spPr>
          <a:xfrm>
            <a:off x="521208" y="987552"/>
            <a:ext cx="11109960" cy="548640"/>
          </a:xfrm>
          <a:prstGeom prst="rect">
            <a:avLst/>
          </a:prstGeom>
          <a:noFill/>
          <a:ln/>
        </p:spPr>
        <p:txBody>
          <a:bodyPr wrap="square" lIns="0" tIns="0" rIns="0" bIns="0" rtlCol="0" anchor="ctr"/>
          <a:lstStyle/>
          <a:p>
            <a:pPr indent="0" marL="0">
              <a:buNone/>
            </a:pPr>
            <a:r>
              <a:rPr lang="en-US" sz="1800" dirty="0">
                <a:solidFill>
                  <a:srgbClr val="DFE5EF"/>
                </a:solidFill>
                <a:latin typeface="Arial" pitchFamily="34" charset="0"/>
                <a:ea typeface="Arial" pitchFamily="34" charset="-122"/>
                <a:cs typeface="Arial" pitchFamily="34" charset="-120"/>
              </a:rPr>
              <a:t>Suggested discussion points for tomorrow</a:t>
            </a:r>
            <a:endParaRPr lang="en-US" sz="1800" dirty="0"/>
          </a:p>
        </p:txBody>
      </p:sp>
      <p:sp>
        <p:nvSpPr>
          <p:cNvPr id="4" name="Text 2"/>
          <p:cNvSpPr/>
          <p:nvPr/>
        </p:nvSpPr>
        <p:spPr>
          <a:xfrm>
            <a:off x="521208" y="6437376"/>
            <a:ext cx="10881360" cy="237744"/>
          </a:xfrm>
          <a:prstGeom prst="rect">
            <a:avLst/>
          </a:prstGeom>
          <a:noFill/>
          <a:ln/>
        </p:spPr>
        <p:txBody>
          <a:bodyPr wrap="square" lIns="0" tIns="0" rIns="0" bIns="0" rtlCol="0" anchor="ctr"/>
          <a:lstStyle/>
          <a:p>
            <a:pPr indent="0" marL="0">
              <a:buNone/>
            </a:pPr>
            <a:r>
              <a:rPr lang="en-US" sz="1600" dirty="0">
                <a:solidFill>
                  <a:srgbClr val="DFE5EF"/>
                </a:solidFill>
                <a:latin typeface="Arial" pitchFamily="34" charset="0"/>
                <a:ea typeface="Arial" pitchFamily="34" charset="-122"/>
                <a:cs typeface="Arial" pitchFamily="34" charset="-120"/>
              </a:rPr>
              <a:t>11 September 2026   •   6/6</a:t>
            </a:r>
            <a:endParaRPr lang="en-US" sz="1600" dirty="0"/>
          </a:p>
        </p:txBody>
      </p:sp>
      <p:sp>
        <p:nvSpPr>
          <p:cNvPr id="5" name="Text 3"/>
          <p:cNvSpPr/>
          <p:nvPr/>
        </p:nvSpPr>
        <p:spPr>
          <a:xfrm>
            <a:off x="594360" y="1764792"/>
            <a:ext cx="548640" cy="320040"/>
          </a:xfrm>
          <a:prstGeom prst="rect">
            <a:avLst/>
          </a:prstGeom>
          <a:noFill/>
          <a:ln/>
        </p:spPr>
        <p:txBody>
          <a:bodyPr wrap="square" lIns="0" tIns="0" rIns="0" bIns="0" rtlCol="0" anchor="ctr"/>
          <a:lstStyle/>
          <a:p>
            <a:pPr indent="0" marL="0">
              <a:buNone/>
            </a:pPr>
            <a:r>
              <a:rPr lang="en-US" sz="2200" b="1" dirty="0">
                <a:solidFill>
                  <a:srgbClr val="85CDBE"/>
                </a:solidFill>
                <a:latin typeface="Arial" pitchFamily="34" charset="0"/>
                <a:ea typeface="Arial" pitchFamily="34" charset="-122"/>
                <a:cs typeface="Arial" pitchFamily="34" charset="-120"/>
              </a:rPr>
              <a:t>01</a:t>
            </a:r>
            <a:endParaRPr lang="en-US" sz="2200" dirty="0"/>
          </a:p>
        </p:txBody>
      </p:sp>
      <p:sp>
        <p:nvSpPr>
          <p:cNvPr id="6" name="Text 4"/>
          <p:cNvSpPr/>
          <p:nvPr/>
        </p:nvSpPr>
        <p:spPr>
          <a:xfrm>
            <a:off x="1353312" y="1764792"/>
            <a:ext cx="10195560" cy="3200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Which experiment should version 1 support?</a:t>
            </a:r>
            <a:endParaRPr lang="en-US" sz="2200" dirty="0"/>
          </a:p>
        </p:txBody>
      </p:sp>
      <p:sp>
        <p:nvSpPr>
          <p:cNvPr id="7" name="Text 5"/>
          <p:cNvSpPr/>
          <p:nvPr/>
        </p:nvSpPr>
        <p:spPr>
          <a:xfrm>
            <a:off x="1353312" y="2130552"/>
            <a:ext cx="10195560" cy="292608"/>
          </a:xfrm>
          <a:prstGeom prst="rect">
            <a:avLst/>
          </a:prstGeom>
          <a:noFill/>
          <a:ln/>
        </p:spPr>
        <p:txBody>
          <a:bodyPr wrap="square" lIns="0" tIns="0" rIns="0" bIns="0" rtlCol="0" anchor="ctr"/>
          <a:lstStyle/>
          <a:p>
            <a:pPr indent="0" marL="0">
              <a:buNone/>
            </a:pPr>
            <a:r>
              <a:rPr lang="en-US" sz="1800" dirty="0">
                <a:solidFill>
                  <a:srgbClr val="DFE5EF"/>
                </a:solidFill>
                <a:latin typeface="Arial" pitchFamily="34" charset="0"/>
                <a:ea typeface="Arial" pitchFamily="34" charset="-122"/>
                <a:cs typeface="Arial" pitchFamily="34" charset="-120"/>
              </a:rPr>
              <a:t>Exact pulse programme, field strengths, T and frequency grid.</a:t>
            </a:r>
            <a:endParaRPr lang="en-US" sz="1800" dirty="0"/>
          </a:p>
        </p:txBody>
      </p:sp>
      <p:sp>
        <p:nvSpPr>
          <p:cNvPr id="8" name="Text 6"/>
          <p:cNvSpPr/>
          <p:nvPr/>
        </p:nvSpPr>
        <p:spPr>
          <a:xfrm>
            <a:off x="594360" y="2587752"/>
            <a:ext cx="548640" cy="320040"/>
          </a:xfrm>
          <a:prstGeom prst="rect">
            <a:avLst/>
          </a:prstGeom>
          <a:noFill/>
          <a:ln/>
        </p:spPr>
        <p:txBody>
          <a:bodyPr wrap="square" lIns="0" tIns="0" rIns="0" bIns="0" rtlCol="0" anchor="ctr"/>
          <a:lstStyle/>
          <a:p>
            <a:pPr indent="0" marL="0">
              <a:buNone/>
            </a:pPr>
            <a:r>
              <a:rPr lang="en-US" sz="2200" b="1" dirty="0">
                <a:solidFill>
                  <a:srgbClr val="85CDBE"/>
                </a:solidFill>
                <a:latin typeface="Arial" pitchFamily="34" charset="0"/>
                <a:ea typeface="Arial" pitchFamily="34" charset="-122"/>
                <a:cs typeface="Arial" pitchFamily="34" charset="-120"/>
              </a:rPr>
              <a:t>02</a:t>
            </a:r>
            <a:endParaRPr lang="en-US" sz="2200" dirty="0"/>
          </a:p>
        </p:txBody>
      </p:sp>
      <p:sp>
        <p:nvSpPr>
          <p:cNvPr id="9" name="Text 7"/>
          <p:cNvSpPr/>
          <p:nvPr/>
        </p:nvSpPr>
        <p:spPr>
          <a:xfrm>
            <a:off x="1353312" y="2587752"/>
            <a:ext cx="10195560" cy="3200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Which sample and reference can we measure?</a:t>
            </a:r>
            <a:endParaRPr lang="en-US" sz="2200" dirty="0"/>
          </a:p>
        </p:txBody>
      </p:sp>
      <p:sp>
        <p:nvSpPr>
          <p:cNvPr id="10" name="Text 8"/>
          <p:cNvSpPr/>
          <p:nvPr/>
        </p:nvSpPr>
        <p:spPr>
          <a:xfrm>
            <a:off x="1353312" y="2953512"/>
            <a:ext cx="10195560" cy="292608"/>
          </a:xfrm>
          <a:prstGeom prst="rect">
            <a:avLst/>
          </a:prstGeom>
          <a:noFill/>
          <a:ln/>
        </p:spPr>
        <p:txBody>
          <a:bodyPr wrap="square" lIns="0" tIns="0" rIns="0" bIns="0" rtlCol="0" anchor="ctr"/>
          <a:lstStyle/>
          <a:p>
            <a:pPr indent="0" marL="0">
              <a:buNone/>
            </a:pPr>
            <a:r>
              <a:rPr lang="en-US" sz="1800" dirty="0">
                <a:solidFill>
                  <a:srgbClr val="DFE5EF"/>
                </a:solidFill>
                <a:latin typeface="Arial" pitchFamily="34" charset="0"/>
                <a:ea typeface="Arial" pitchFamily="34" charset="-122"/>
                <a:cs typeface="Arial" pitchFamily="34" charset="-120"/>
              </a:rPr>
              <a:t>Repeated coupled data and a suitable artefact-suppressed comparison.</a:t>
            </a:r>
            <a:endParaRPr lang="en-US" sz="1800" dirty="0"/>
          </a:p>
        </p:txBody>
      </p:sp>
      <p:sp>
        <p:nvSpPr>
          <p:cNvPr id="11" name="Text 9"/>
          <p:cNvSpPr/>
          <p:nvPr/>
        </p:nvSpPr>
        <p:spPr>
          <a:xfrm>
            <a:off x="594360" y="3410712"/>
            <a:ext cx="548640" cy="320040"/>
          </a:xfrm>
          <a:prstGeom prst="rect">
            <a:avLst/>
          </a:prstGeom>
          <a:noFill/>
          <a:ln/>
        </p:spPr>
        <p:txBody>
          <a:bodyPr wrap="square" lIns="0" tIns="0" rIns="0" bIns="0" rtlCol="0" anchor="ctr"/>
          <a:lstStyle/>
          <a:p>
            <a:pPr indent="0" marL="0">
              <a:buNone/>
            </a:pPr>
            <a:r>
              <a:rPr lang="en-US" sz="2200" b="1" dirty="0">
                <a:solidFill>
                  <a:srgbClr val="85CDBE"/>
                </a:solidFill>
                <a:latin typeface="Arial" pitchFamily="34" charset="0"/>
                <a:ea typeface="Arial" pitchFamily="34" charset="-122"/>
                <a:cs typeface="Arial" pitchFamily="34" charset="-120"/>
              </a:rPr>
              <a:t>03</a:t>
            </a:r>
            <a:endParaRPr lang="en-US" sz="2200" dirty="0"/>
          </a:p>
        </p:txBody>
      </p:sp>
      <p:sp>
        <p:nvSpPr>
          <p:cNvPr id="12" name="Text 10"/>
          <p:cNvSpPr/>
          <p:nvPr/>
        </p:nvSpPr>
        <p:spPr>
          <a:xfrm>
            <a:off x="1353312" y="3410712"/>
            <a:ext cx="10195560" cy="3200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Which parameter and SNR range matters most?</a:t>
            </a:r>
            <a:endParaRPr lang="en-US" sz="2200" dirty="0"/>
          </a:p>
        </p:txBody>
      </p:sp>
      <p:sp>
        <p:nvSpPr>
          <p:cNvPr id="13" name="Text 11"/>
          <p:cNvSpPr/>
          <p:nvPr/>
        </p:nvSpPr>
        <p:spPr>
          <a:xfrm>
            <a:off x="1353312" y="3776472"/>
            <a:ext cx="10195560" cy="292608"/>
          </a:xfrm>
          <a:prstGeom prst="rect">
            <a:avLst/>
          </a:prstGeom>
          <a:noFill/>
          <a:ln/>
        </p:spPr>
        <p:txBody>
          <a:bodyPr wrap="square" lIns="0" tIns="0" rIns="0" bIns="0" rtlCol="0" anchor="ctr"/>
          <a:lstStyle/>
          <a:p>
            <a:pPr indent="0" marL="0">
              <a:buNone/>
            </a:pPr>
            <a:r>
              <a:rPr lang="en-US" sz="1800" dirty="0">
                <a:solidFill>
                  <a:srgbClr val="DFE5EF"/>
                </a:solidFill>
                <a:latin typeface="Arial" pitchFamily="34" charset="0"/>
                <a:ea typeface="Arial" pitchFamily="34" charset="-122"/>
                <a:cs typeface="Arial" pitchFamily="34" charset="-120"/>
              </a:rPr>
              <a:t>Agree the target application before changing the broad training range.</a:t>
            </a:r>
            <a:endParaRPr lang="en-US" sz="1800" dirty="0"/>
          </a:p>
        </p:txBody>
      </p:sp>
      <p:sp>
        <p:nvSpPr>
          <p:cNvPr id="14" name="Text 12"/>
          <p:cNvSpPr/>
          <p:nvPr/>
        </p:nvSpPr>
        <p:spPr>
          <a:xfrm>
            <a:off x="594360" y="4233672"/>
            <a:ext cx="548640" cy="320040"/>
          </a:xfrm>
          <a:prstGeom prst="rect">
            <a:avLst/>
          </a:prstGeom>
          <a:noFill/>
          <a:ln/>
        </p:spPr>
        <p:txBody>
          <a:bodyPr wrap="square" lIns="0" tIns="0" rIns="0" bIns="0" rtlCol="0" anchor="ctr"/>
          <a:lstStyle/>
          <a:p>
            <a:pPr indent="0" marL="0">
              <a:buNone/>
            </a:pPr>
            <a:r>
              <a:rPr lang="en-US" sz="2200" b="1" dirty="0">
                <a:solidFill>
                  <a:srgbClr val="85CDBE"/>
                </a:solidFill>
                <a:latin typeface="Arial" pitchFamily="34" charset="0"/>
                <a:ea typeface="Arial" pitchFamily="34" charset="-122"/>
                <a:cs typeface="Arial" pitchFamily="34" charset="-120"/>
              </a:rPr>
              <a:t>04</a:t>
            </a:r>
            <a:endParaRPr lang="en-US" sz="2200" dirty="0"/>
          </a:p>
        </p:txBody>
      </p:sp>
      <p:sp>
        <p:nvSpPr>
          <p:cNvPr id="15" name="Text 13"/>
          <p:cNvSpPr/>
          <p:nvPr/>
        </p:nvSpPr>
        <p:spPr>
          <a:xfrm>
            <a:off x="1353312" y="4233672"/>
            <a:ext cx="10195560" cy="3200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counts as scientifically useful correction?</a:t>
            </a:r>
            <a:endParaRPr lang="en-US" sz="2200" dirty="0"/>
          </a:p>
        </p:txBody>
      </p:sp>
      <p:sp>
        <p:nvSpPr>
          <p:cNvPr id="16" name="Text 14"/>
          <p:cNvSpPr/>
          <p:nvPr/>
        </p:nvSpPr>
        <p:spPr>
          <a:xfrm>
            <a:off x="1353312" y="4599432"/>
            <a:ext cx="10195560" cy="292608"/>
          </a:xfrm>
          <a:prstGeom prst="rect">
            <a:avLst/>
          </a:prstGeom>
          <a:noFill/>
          <a:ln/>
        </p:spPr>
        <p:txBody>
          <a:bodyPr wrap="square" lIns="0" tIns="0" rIns="0" bIns="0" rtlCol="0" anchor="ctr"/>
          <a:lstStyle/>
          <a:p>
            <a:pPr indent="0" marL="0">
              <a:buNone/>
            </a:pPr>
            <a:r>
              <a:rPr lang="en-US" sz="1800" dirty="0">
                <a:solidFill>
                  <a:srgbClr val="DFE5EF"/>
                </a:solidFill>
                <a:latin typeface="Arial" pitchFamily="34" charset="0"/>
                <a:ea typeface="Arial" pitchFamily="34" charset="-122"/>
                <a:cs typeface="Arial" pitchFamily="34" charset="-120"/>
              </a:rPr>
              <a:t>Acceptable bias in kex, pB and |Δω|, plus failure and uncertainty limits.</a:t>
            </a:r>
            <a:endParaRPr lang="en-US" sz="1800" dirty="0"/>
          </a:p>
        </p:txBody>
      </p:sp>
      <p:sp>
        <p:nvSpPr>
          <p:cNvPr id="17" name="Text 15"/>
          <p:cNvSpPr/>
          <p:nvPr/>
        </p:nvSpPr>
        <p:spPr>
          <a:xfrm>
            <a:off x="594360" y="5056632"/>
            <a:ext cx="548640" cy="320040"/>
          </a:xfrm>
          <a:prstGeom prst="rect">
            <a:avLst/>
          </a:prstGeom>
          <a:noFill/>
          <a:ln/>
        </p:spPr>
        <p:txBody>
          <a:bodyPr wrap="square" lIns="0" tIns="0" rIns="0" bIns="0" rtlCol="0" anchor="ctr"/>
          <a:lstStyle/>
          <a:p>
            <a:pPr indent="0" marL="0">
              <a:buNone/>
            </a:pPr>
            <a:r>
              <a:rPr lang="en-US" sz="2200" b="1" dirty="0">
                <a:solidFill>
                  <a:srgbClr val="85CDBE"/>
                </a:solidFill>
                <a:latin typeface="Arial" pitchFamily="34" charset="0"/>
                <a:ea typeface="Arial" pitchFamily="34" charset="-122"/>
                <a:cs typeface="Arial" pitchFamily="34" charset="-120"/>
              </a:rPr>
              <a:t>05</a:t>
            </a:r>
            <a:endParaRPr lang="en-US" sz="2200" dirty="0"/>
          </a:p>
        </p:txBody>
      </p:sp>
      <p:sp>
        <p:nvSpPr>
          <p:cNvPr id="18" name="Text 16"/>
          <p:cNvSpPr/>
          <p:nvPr/>
        </p:nvSpPr>
        <p:spPr>
          <a:xfrm>
            <a:off x="1353312" y="5056632"/>
            <a:ext cx="10195560" cy="3200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is the intended paper scope?</a:t>
            </a:r>
            <a:endParaRPr lang="en-US" sz="2200" dirty="0"/>
          </a:p>
        </p:txBody>
      </p:sp>
      <p:sp>
        <p:nvSpPr>
          <p:cNvPr id="19" name="Text 17"/>
          <p:cNvSpPr/>
          <p:nvPr/>
        </p:nvSpPr>
        <p:spPr>
          <a:xfrm>
            <a:off x="1353312" y="5422392"/>
            <a:ext cx="10195560" cy="292608"/>
          </a:xfrm>
          <a:prstGeom prst="rect">
            <a:avLst/>
          </a:prstGeom>
          <a:noFill/>
          <a:ln/>
        </p:spPr>
        <p:txBody>
          <a:bodyPr wrap="square" lIns="0" tIns="0" rIns="0" bIns="0" rtlCol="0" anchor="ctr"/>
          <a:lstStyle/>
          <a:p>
            <a:pPr indent="0" marL="0">
              <a:buNone/>
            </a:pPr>
            <a:r>
              <a:rPr lang="en-US" sz="1800" dirty="0">
                <a:solidFill>
                  <a:srgbClr val="DFE5EF"/>
                </a:solidFill>
                <a:latin typeface="Arial" pitchFamily="34" charset="0"/>
                <a:ea typeface="Arial" pitchFamily="34" charset="-122"/>
                <a:cs typeface="Arial" pitchFamily="34" charset="-120"/>
              </a:rPr>
              <a:t>Computational methods first, or an experimentally validated application?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IISc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CPMG PI Update, 11 September 2026</dc:title>
  <dc:subject>CPMG J-coupling correction: validation and experimental planning</dc:subject>
  <dc:creator>Shankara Rama Sharma</dc:creator>
  <cp:lastModifiedBy>Shankara Rama Sharma</cp:lastModifiedBy>
  <cp:revision>1</cp:revision>
  <dcterms:created xsi:type="dcterms:W3CDTF">2026-09-10T05:16:34Z</dcterms:created>
  <dcterms:modified xsi:type="dcterms:W3CDTF">2026-09-10T05:16:34Z</dcterms:modified>
</cp:coreProperties>
</file>