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37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min, questions welcome throughout. Plan: start with why we're building this at all, then the debugging story — including two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project. The network is the destination; today is entirely about the training-data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Peak ~3.5 s-1, about 17% of R2eff. Note it decays away by ~300 Hz. The overlap at high nu is real, not a plotting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justification for spending weeks on validation instead of jumping to the network. Expect a question here — the answer is that a biased simulator produces a confidently wrong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benchmark is a round-trip test. We know the ground truth because we generated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rush past this — the whole talk is the story of chasing this number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useful move was designing tests that separate the hypotheses, rather than guessing which was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to invite questions. The lesson is generalisable and worth stating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defensiveness about ChemEx — make clear this is a modelling-scope difference, not a bug in their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dependency closure from the observable Nx gives exactly {E, Nx, Ny, Nz} x {A,B}. Drop the identity, which ChemEx omits, and you have their 6x6.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of the talk. Everything before builds to this; everything after is about what was actually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factor of 2 is the headline. Worth saying plainly: we were feeding ChemEx a mislabelled x-axis.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(b): 90 excitation, t_neg finite-pulse correction, two mirrored half-trains around the phase-cycled 180, then 90 and detect. Our train (a) had none of the outer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moment to pause for questions. Then motivate why we went further rather than declaring victory at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lesson: guessing conventions wasted time; ablation found it in one pass. Say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cleanest result in the talk. Curve 2 vs 3 changes only the physics engine; curve 1 vs 2 changes only the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4 degenerate groups voluntarily — near kex 1250-1430, where CPMG constrains the product not the individual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meetings are the right venue for this slide — the failure modes generalise beyond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project goal — this is the answer to 'why did you need the big matrix?'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project goal.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4114800"/>
            <a:ext cx="3291840" cy="329184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F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meeting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CPMG simulator we can trust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the synthetic-data engine for the J-decoupling network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41248" y="3950208"/>
            <a:ext cx="14630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2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 →  what went wrong  →  what we fixed  →  where we stand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goal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that removes the J-coupling artefact from a measured CPMG curve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curve
</a:t>
            </a:r>
            <a:r>
              <a:rPr lang="en-US" sz="15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J-coupling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0690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12080" y="169164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
</a:t>
            </a:r>
            <a:r>
              <a:rPr lang="en-US" sz="140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synthetic pairs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26680" y="2148840"/>
            <a:ext cx="91440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0" y="16916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DDF0E9"/>
          </a:solidFill>
          <a:ln w="1905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
</a:t>
            </a:r>
            <a:r>
              <a:rPr lang="en-US" sz="150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removed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5303520" cy="2532888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0704" y="36758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89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J-coupling to the amide proton distorts the 15N dispersion curve. That distortion is entangled with the exchange information we actually want (kₑₓ, pᴮ, Δω).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it experimentally costs extra pulse-sequence machinery. Removing it computationally would be cheap and general.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303520" cy="2532888"/>
          </a:xfrm>
          <a:prstGeom prst="roundRect">
            <a:avLst>
              <a:gd name="adj" fmla="val 28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47104" y="36758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361188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network?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087368"/>
            <a:ext cx="4791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mapping from J-coupled → J-free is deterministic but has no closed form: it depends on kₑₓ, pᴮ, Δω, relaxation and the pulse sequence together.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exactly the kind of well-posed, hard-to-invert mapping a network handles well — given enough training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J-coupling artefact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simulator, identical exchange parameters, J = 92 Hz vs J = 0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jcoupling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10972800" cy="4425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artefact is largest at low ν</a:t>
            </a:r>
            <a:r>
              <a:rPr lang="en-US" sz="1600" b="1" baseline="-40000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</a:t>
            </a:r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exactly where the exchange information is richest. That is why it cannot simply be ignored.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— and why it depends on 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cannot measure J-coupled / J-free pairs experimentally, so the training data must be simulated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simulator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Allard 1998,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32 Liouvillian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980944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29584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9584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paired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(J = 92, J = 0)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852160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DNN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J-coupled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J-free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723376" y="2395728"/>
            <a:ext cx="475488" cy="384048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72016" y="1737360"/>
            <a:ext cx="2249424" cy="1691640"/>
          </a:xfrm>
          <a:prstGeom prst="roundRect">
            <a:avLst>
              <a:gd name="adj" fmla="val 4324"/>
            </a:avLst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72016" y="1737360"/>
            <a:ext cx="22494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real data
</a:t>
            </a: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curves →</a:t>
            </a:r>
            <a:endParaRPr lang="en-US" sz="16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D6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kₑₓ, pᴮ, Δω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2249424" cy="475488"/>
          </a:xfrm>
          <a:prstGeom prst="roundRect">
            <a:avLst>
              <a:gd name="adj" fmla="val 11538"/>
            </a:avLst>
          </a:prstGeom>
          <a:solidFill>
            <a:srgbClr val="FBE4DC"/>
          </a:solidFill>
          <a:ln w="1905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749040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526279"/>
            <a:ext cx="10972800" cy="1691639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" y="477316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98448" y="47091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in, garbage out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18464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can only ever be as correct as the physics it is trained on. A systematic error in the simulator becomes a systematic error the network learns and reproduces — invisibly. So before generating millions of curves, the simulator has to be proven right.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numerical propagation — no analytical approximation to the exchange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463039"/>
            <a:ext cx="5394960" cy="2853983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solves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Bloch–McConnell + relaxation in the 16-operator Cartesian product basis of Allard, Helgstrand &amp; Härd (1998):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E, Hₓ, Hᵧ, H_z, Nₓ, Nᵧ, N_z,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2HₓN_z … 2H_zN_z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exchanging states → 32 × 32.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39"/>
            <a:ext cx="5394960" cy="2853983"/>
          </a:xfrm>
          <a:prstGeom prst="roundRect">
            <a:avLst>
              <a:gd name="adj" fmla="val 2692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buys us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82512" y="2121408"/>
            <a:ext cx="48828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proton bath and cross-relaxation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CSA–DD cross-correlation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scalar (J) coupling — the whole point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finite pulse widths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by matrix exponential, so no fast/slow-exchange approximation is ever made.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475284"/>
            <a:ext cx="10972800" cy="1925515"/>
          </a:xfrm>
          <a:prstGeom prst="roundRect">
            <a:avLst>
              <a:gd name="adj" fmla="val 3784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4722173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8448" y="4658165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know it is right?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133653"/>
            <a:ext cx="104607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checks. </a:t>
            </a:r>
          </a:p>
          <a:p>
            <a:pPr marL="342900" indent="-342900">
              <a:lnSpc>
                <a:spcPct val="114000"/>
              </a:lnSpc>
              <a:buAutoNum type="arabicParenBoth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implementation line-by-line against the paper. </a:t>
            </a:r>
          </a:p>
          <a:p>
            <a:pPr marL="342900" indent="-342900">
              <a:lnSpc>
                <a:spcPct val="114000"/>
              </a:lnSpc>
              <a:buAutoNum type="arabicParenBoth"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it against ChemEx — the standard, widely used relaxation-dispersion package — by generating data with our simulator and asking ChemEx to recover the parameters we put 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attempt: it failed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synthetic profiles, 100 grouped fits — ChemEx could not recover what we put 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 (minor population)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 ≈ 0.03 vs true 0.05–0.07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0832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370832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 (exchange rate)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83296" y="17465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083296" y="24963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Δω  (shift difference)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3024" y="2816352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overestimated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6112" y="395020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98448" y="388620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big and too systematic to be noise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" y="4361688"/>
            <a:ext cx="10460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group was biased the same way. Something was structurally wrong — either our physics, ChemEx's physics, or the way we were connecting the two.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" y="5257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the real work started.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thought about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candidate explanations — and how to tell them apart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6002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physics is wrong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1993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mis-implemented Allard.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77840" y="1481328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code against the paper.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58368" y="2596896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53312" y="271576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ChemEx's physics is different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53312" y="3108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models a smaller spin system.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577840" y="2596896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two matrices directly.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58368" y="3712464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05993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53312" y="38313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fitting is degenerate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53312" y="4224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kₑₓ / pᴮ trade off against each other.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77840" y="3712464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forward models with no fitting at all.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828032"/>
            <a:ext cx="10972800" cy="1033272"/>
          </a:xfrm>
          <a:prstGeom prst="roundRect">
            <a:avLst>
              <a:gd name="adj" fmla="val 531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5175504"/>
            <a:ext cx="329184" cy="329184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53312" y="49469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wiring them together wrong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53312" y="5340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Units, conventions, file formats.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577840" y="4828032"/>
            <a:ext cx="58521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 </a:t>
            </a: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ChemEx's source, not its docs.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1 — audit our own physics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Line-by-line against Allard, Helgstrand &amp; Härd (1998)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 find a bug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DD–CSA cross-correlation prefactor was short by √3 relative to Eq. 33–34: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A_d · A_c = √(9d² · 3c²)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fed the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η_z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η_xy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rates. Verified with </a:t>
            </a:r>
            <a:r>
              <a:rPr lang="en-US" sz="15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fixed in 5 places.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39"/>
            <a:ext cx="5394960" cy="2555045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was correct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r₂(N), r₁(N), σ, μ_mq and the exchange block all matched the paper exactly.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implementation was fundamentally sound — one real but narrow error.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200965"/>
            <a:ext cx="10972800" cy="1828800"/>
          </a:xfrm>
          <a:prstGeom prst="roundRect">
            <a:avLst>
              <a:gd name="adj" fmla="val 3500"/>
            </a:avLst>
          </a:prstGeom>
          <a:solidFill>
            <a:srgbClr val="FBF0DD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447853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4383845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#1 — we assumed this was the answer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859333"/>
            <a:ext cx="104607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 genuine bug, so it felt like the explanation. It was not. At the magic angle the cross-correlation term vanishes anyway, so it could not possibly account for a –46% pᴮ bias. </a:t>
            </a: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it hardly changed the benchmark.</a:t>
            </a:r>
            <a:endParaRPr lang="en-US" sz="1500" b="1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finding *a* bug is not the same as finding *the* bug.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2 — compare the matrices themselves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curves, not fits. Read ChemEx's source and print its actual Liouvillian.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0992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expected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32 × 32 matrix like ours, possibly with different conventions or a slightly different relaxation treatment.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170992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82512" y="2121408"/>
            <a:ext cx="488289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cpmg_15n_ip declares Basis(type="ixyz").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three operators per state: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Nₓ, Nᵧ, N_z   (× A, B)  =  6 × 6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proton in the basis at all.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4069080"/>
            <a:ext cx="1097280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3159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425196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that is not a criticism of ChemEx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4727448"/>
            <a:ext cx="104607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fitting package this is a sensible, fast, well-tested choice — in-phase 15N CPMG is usually analysed exactly this way. But it means the two codes can only be compared where our 32 × 32 reduces to the same 6 × 6: J = 0, magic angle, no dipolar coupling.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limit our matrix collapses onto theirs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the only rows and columns the observable actually depends on (computed, not eyeballed)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matrix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0972800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two matrices are identical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Eigenvalues are basis-independent — the strongest test available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10972800" cy="201168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 (32×32, collapsed)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(6×6)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mode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–300.5359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longitudinal exchange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–288.7159 ± 759.2445i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–288.7169 ± 759.0113i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state-B transverse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–15.1426 ± 4.9910i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–15.1416 ± 4.9922i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state-A transverse (observed)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–0.5359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560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R₁ relaxation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40480"/>
            <a:ext cx="329184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8368" y="39867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4736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difference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5056632"/>
            <a:ext cx="3072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units convention, not physics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24528" y="3840480"/>
            <a:ext cx="7406640" cy="1737360"/>
          </a:xfrm>
          <a:prstGeom prst="roundRect">
            <a:avLst>
              <a:gd name="adj" fmla="val 3684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9"/>
          <p:cNvSpPr/>
          <p:nvPr/>
        </p:nvSpPr>
        <p:spPr>
          <a:xfrm>
            <a:off x="4462272" y="408736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64608" y="4023360"/>
            <a:ext cx="6565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two differences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480560" y="4498848"/>
            <a:ext cx="68945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Sign of Δω — opposite rotation convention; R₂,eff depends on Δω², so nothing observable changes.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|Δω| differs by 0.03% — we use γ_N/γ_H, ChemEx uses the IUPAC Ξ ratio.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8368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physics engines agree. The problem had to be somewhere else entirely.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bug: pulse-sequence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Liouvillian — but 'ncyc' means two different things in the two codes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81328"/>
          <a:ext cx="10972800" cy="22860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simulator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ChemEx cpmg_15n_ip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180° pulses per labelled 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ncyc  (two half-trains)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τ_cp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 – ncyc·t₁₈₀) / (2·ncyc)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time_t2/(4·ncyc) – pw90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ν_CPMG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1/(4τ_cp)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ncyc / time_t2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Excitation / detection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on Nₓ, reads Nₓ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90° pulses, t_neg, t_equil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98448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concrete errors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ncyc was off by a factor of 2 — ChemEx read our labels as half the real pulse count.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time_t2 was 0.068 s; the data was generated with 0.04 s, rescaling every rate by 0.588.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3886200"/>
            <a:ext cx="5394960" cy="1828800"/>
          </a:xfrm>
          <a:prstGeom prst="roundRect">
            <a:avLst>
              <a:gd name="adj" fmla="val 35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64224" y="4133088"/>
            <a:ext cx="292608" cy="29260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10"/>
          <p:cNvSpPr/>
          <p:nvPr/>
        </p:nvSpPr>
        <p:spPr>
          <a:xfrm>
            <a:off x="6766560" y="406908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looked like physics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82512" y="4544568"/>
            <a:ext cx="4882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errors distort the curve smoothly, in a way that mimics a different exchange regime. The fit absorbs them by shifting pᴮ — which is exactly what we saw.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sequences, drawn out — both now implemented in our simulator</a:t>
            </a:r>
            <a:endParaRPr lang="en-US" sz="3000" dirty="0"/>
          </a:p>
        </p:txBody>
      </p:sp>
      <p:pic>
        <p:nvPicPr>
          <p:cNvPr id="3" name="Image 0" descr="/Users/shankararamasharma/Desktop/IISc/CPMG Project/docs/group_meeting_figs/gm_pulse_sequ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060704"/>
            <a:ext cx="965606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conventions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 the dataset with the correct ncyc labelling and time_t2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–46%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before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470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286000"/>
            <a:ext cx="822960" cy="457200"/>
          </a:xfrm>
          <a:prstGeom prst="rightArrow">
            <a:avLst/>
          </a:prstGeom>
          <a:solidFill>
            <a:srgbClr val="5560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0" y="164592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179222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766560" y="25420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 error  —  after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76288" y="2862072"/>
            <a:ext cx="3438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ncyc and time_t2 corrected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4041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98448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bias was bookkeeping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configuration values — not the relaxation theory, not the exchange model, not the optimiser. kₑₓ improved from +12.2% to –5.1% at the same time.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26480" y="37947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64224" y="4041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977640"/>
            <a:ext cx="4553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all of 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82512" y="4453128"/>
            <a:ext cx="48828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residual ~5% bias survived. The sequences were still structurally different, so we could not yet tell whether the rest was physics or more convention.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the last variable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ChemEx's exact sequence inside our simulator, so only physics can differ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46304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591056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sequence="home")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C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sim.simulate_cpmg(params, sequence="chemex")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10972800" cy="1965960"/>
          </a:xfrm>
          <a:prstGeom prst="roundRect">
            <a:avLst>
              <a:gd name="adj" fmla="val 3256"/>
            </a:avLst>
          </a:prstGeom>
          <a:solidFill>
            <a:srgbClr val="FBE9E3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2990088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2926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#2 — a five-percent residual we could not explain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01568"/>
            <a:ext cx="104607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implementing the sequence, a stubborn ~5% gap remained that no sign or phase convention would remove. We spent a while flipping conventions before doing the systematic thing: swap in ChemEx's own propagators one at a time.</a:t>
            </a: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endParaRPr lang="en-US" sz="15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culprit was the detection operator. ChemEx sets suffix_detect = "_a" — it detects ONLY the ground state's N_z, not the population-weighted sum over both states, which is what we had assumed.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489204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513892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98448" y="507492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line, factor of 77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550408"/>
            <a:ext cx="104607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that convention took the discrepancy from ~5% to 0.066% — the level of the known 0.03% gyromagnetic-ratio difference. At that point there is no residual bug on either side.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can separate sequence from physics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forward models, no fitting anywhere</a:t>
            </a:r>
            <a:endParaRPr lang="en-US" sz="1600" dirty="0"/>
          </a:p>
        </p:txBody>
      </p:sp>
      <p:pic>
        <p:nvPicPr>
          <p:cNvPr id="4" name="Image 0" descr="/Users/shankararamasharma/Desktop/IISc/CPMG Project/docs/group_meeting_figs/gm_forward_three_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25880"/>
            <a:ext cx="1097280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2 and 3 lie on top of each other (0.066%).   </a:t>
            </a:r>
            <a:r>
              <a:rPr lang="en-US" sz="1600" b="1" dirty="0">
                <a:solidFill>
                  <a:srgbClr val="C144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sequence, but a 20.6% gap in Rₑₓ remains — that is genuine physics.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310896"/>
            <a:ext cx="1013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Refitting all 1500 profiles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896112"/>
            <a:ext cx="10131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regenerated with ChemEx's own sequence — 100/100 grouped fits converged</a:t>
            </a:r>
            <a:endParaRPr lang="en-US" sz="1600" dirty="0"/>
          </a:p>
        </p:txBody>
      </p:sp>
      <p:pic>
        <p:nvPicPr>
          <p:cNvPr id="6" name="Image 0" descr="/Users/shankararamasharma/Desktop/IISc/CPMG Project/docs/group_meeting_figs/gm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71600"/>
            <a:ext cx="10972800" cy="4599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6053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pᴮ:  –46%  →  +5.4%  →  +1.7%.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spread is dominated by the fast-exchange kₑₓ / pᴮ degeneracy (4 of 100 groups), not by model error.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along the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worth carrying into the next stage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44752" y="173736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bug ≠ finding the bug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44752" y="21762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√3 error was real and worth fixing, but it explained none of the discrepancy. We nearly stopped there.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3456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44752" y="31821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source, not the documentation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44752" y="36210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ChemEx uses a 6×6 basis and detects only state A are both facts you can only get from the code.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58368" y="4443984"/>
            <a:ext cx="10972800" cy="1298448"/>
          </a:xfrm>
          <a:prstGeom prst="roundRect">
            <a:avLst>
              <a:gd name="adj" fmla="val 4930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96112" y="4901184"/>
            <a:ext cx="365760" cy="36576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44752" y="462686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Ablate, don't guess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44752" y="50657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Flipping conventions one at a time by intuition wasted days. Swapping components in systematically found it immediately.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simulator stands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5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with a quantified statement of what it adds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validated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ChemEx's Liouvillian to 0.03% in the regime where both apply. One real bug (√3) found and fixed.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26864" y="1755648"/>
            <a:ext cx="292608" cy="292608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verified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5152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ChemEx recovers pᴮ to +1.7% and kₑₓ to –2.0% from data our simulator generates.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19872" y="150876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EEF3F7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357616" y="175564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59952" y="169164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quantified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2167128"/>
            <a:ext cx="3008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sequence controlled, the 32×32 treatment changes Rₑₓ by 20.6% vs a 6×6 model at realistic J.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886200"/>
            <a:ext cx="10972800" cy="1920240"/>
          </a:xfrm>
          <a:prstGeom prst="roundRect">
            <a:avLst>
              <a:gd name="adj" fmla="val 3333"/>
            </a:avLst>
          </a:prstGeom>
          <a:solidFill>
            <a:srgbClr val="E8EEF4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4133088"/>
            <a:ext cx="292608" cy="29260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98448" y="4069080"/>
            <a:ext cx="10131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20.6% matters for this project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544568"/>
            <a:ext cx="10460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precisely the proton bath, CSA–DD cross-correlation and J-coupling that a reduced model cannot represent — and J-coupling is the very thing the network is supposed to learn to remove. A 6×6 simulator could not generate this training data at all. The larger treatment is not an indulgence; it is a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463040"/>
            <a:ext cx="2926080" cy="2926080"/>
          </a:xfrm>
          <a:prstGeom prst="ellipse">
            <a:avLst/>
          </a:prstGeom>
          <a:solidFill>
            <a:srgbClr val="065A82">
              <a:alpha val="3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618488"/>
            <a:ext cx="310896" cy="310896"/>
          </a:xfrm>
          <a:prstGeom prst="ellipse">
            <a:avLst/>
          </a:prstGeom>
          <a:solidFill>
            <a:srgbClr val="9FE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training 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simulator validated, produce the paired (J-coupled, J-free) dataset at scale across kₑₓ, pᴮ, Δω and field.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77240" y="3035808"/>
            <a:ext cx="310896" cy="310896"/>
          </a:xfrm>
          <a:prstGeom prst="ellipse">
            <a:avLst/>
          </a:prstGeom>
          <a:solidFill>
            <a:srgbClr val="9FC3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292608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benchmark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3832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the matched-sequence comparison for the TROSY experiment, and check how the 20.6% physics gap propagates into fitted parameters.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4453128"/>
            <a:ext cx="310896" cy="310896"/>
          </a:xfrm>
          <a:prstGeom prst="ellipse">
            <a:avLst/>
          </a:prstGeom>
          <a:solidFill>
            <a:srgbClr val="FFD9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434340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network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800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BB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training on synthetic pairs; then test on the CW-CPMG sequence (Hansen/Kay 2008), which is already implemented.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2C3568"/>
          </a:solidFill>
          <a:ln w="12700">
            <a:solidFill>
              <a:srgbClr val="3D48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8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in the repo — simulator, both pulse sequences, the ChemEx benchmark harness and the full write-up.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2655</Words>
  <Application>Microsoft Macintosh PowerPoint</Application>
  <PresentationFormat>Widescreen</PresentationFormat>
  <Paragraphs>262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CPMG simulator validation — group meeting</dc:title>
  <dc:subject>PptxGenJS Presentation</dc:subject>
  <dc:creator>PptxGenJS</dc:creator>
  <cp:lastModifiedBy>Shankararama Sharma R</cp:lastModifiedBy>
  <cp:revision>4</cp:revision>
  <dcterms:created xsi:type="dcterms:W3CDTF">2026-08-10T16:22:19Z</dcterms:created>
  <dcterms:modified xsi:type="dcterms:W3CDTF">2026-08-11T05:37:02Z</dcterms:modified>
</cp:coreProperties>
</file>