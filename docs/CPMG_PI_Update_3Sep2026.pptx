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since 11 Aug: the simulator is now validated against ChemEx at the full 30x30 level and two real bugs were found and fixed; the first learned models are trained and work very well on clean data; and adding realistic noise revealed the binding constraint on the whole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bugs trace to the same root cause: converting Allard 1998 into code. Equation 19 carries a leading minus sign that is easy to drop, and one term was added that the paper never had. Dependency analysis shows in-phase experiments never reach the MQ block, so earlier in-phase results stand. CW-CPMG did reach it and has been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design choice: the model is given only quantities knowable at the spectrometer. An earlier version conditioned on k_ex, p_B and delta-omega, which are exactly what the experiment is trying to measure, so it could never be used on real data. On the architecture question: the convolutional network wins at both dataset sizes, and at 500k its typical error is about half either Transformer variant, so the ranking is now on firm ground. Whether the Transformer carries a positional encoding made about one percentage point of difference in both directions across the two dataset sizes, i.e. within run-to-run variation, so nothing should be read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methodological point is that the headline metric broke down under noise. It kept reporting 85% at every noise level because the denominator became dominated by noise rather than by the J artefact. We had to replace it with a comparison against the artefact's own magnitude.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replaced an earlier, too-optimistic conclusion. Comparing the median model error against the median artefact suggested break-even at SNR 104 and that four to nine averages would suffice. Those are medians of two different distributions and say nothing about individual profiles. The per-profile test gives 16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for discussion: 93.5 percent clean recoverability says the simulator and the model are sound. The obstacle is entirely that the artefact sits under the noise at standard SNR. We checked whether the acquisition could be redesigned to get around this - more frequency points, longer relaxation delays - and it cannot: once you charge for the instrument time, sampling more points is no better than simply repeating the measurement. That makes narrowing the parameter ranges the only lever that costs nothing, which is the conversation I wanted to have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822960" y="2057400"/>
            <a:ext cx="10545775"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CPMG De-J-Coupling</a:t>
            </a:r>
            <a:endParaRPr lang="en-US" sz="4600" dirty="0"/>
          </a:p>
        </p:txBody>
      </p:sp>
      <p:sp>
        <p:nvSpPr>
          <p:cNvPr id="3" name="Text 1"/>
          <p:cNvSpPr txBox="1"/>
          <p:nvPr/>
        </p:nvSpPr>
        <p:spPr>
          <a:xfrm>
            <a:off x="822960" y="2944368"/>
            <a:ext cx="10545775" cy="45720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Simulator validated · first learned models · the noise limit</a:t>
            </a:r>
            <a:endParaRPr lang="en-US" sz="1900" dirty="0"/>
          </a:p>
        </p:txBody>
      </p:sp>
      <p:sp>
        <p:nvSpPr>
          <p:cNvPr id="4" name="Shape 2"/>
          <p:cNvSpPr/>
          <p:nvPr/>
        </p:nvSpPr>
        <p:spPr>
          <a:xfrm>
            <a:off x="822960" y="3794760"/>
            <a:ext cx="2788920" cy="566928"/>
          </a:xfrm>
          <a:prstGeom prst="roundRect">
            <a:avLst>
              <a:gd name="adj" fmla="val 12903"/>
            </a:avLst>
          </a:prstGeom>
          <a:solidFill>
            <a:srgbClr val="1C7293"/>
          </a:solidFill>
          <a:ln w="12700">
            <a:solidFill>
              <a:srgbClr val="1C7293"/>
            </a:solidFill>
            <a:prstDash val="solid"/>
          </a:ln>
        </p:spPr>
      </p:sp>
      <p:sp>
        <p:nvSpPr>
          <p:cNvPr id="5" name="Text 3"/>
          <p:cNvSpPr txBox="1"/>
          <p:nvPr/>
        </p:nvSpPr>
        <p:spPr>
          <a:xfrm>
            <a:off x="822960" y="3794760"/>
            <a:ext cx="278892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 Aug → 3 Sep 2026</a:t>
            </a:r>
            <a:endParaRPr lang="en-US" sz="1400" dirty="0"/>
          </a:p>
        </p:txBody>
      </p:sp>
      <p:sp>
        <p:nvSpPr>
          <p:cNvPr id="6" name="Text 4"/>
          <p:cNvSpPr txBox="1"/>
          <p:nvPr/>
        </p:nvSpPr>
        <p:spPr>
          <a:xfrm>
            <a:off x="3794760" y="3794760"/>
            <a:ext cx="3657600" cy="566928"/>
          </a:xfrm>
          <a:prstGeom prst="rect">
            <a:avLst/>
          </a:prstGeom>
          <a:noFill/>
          <a:ln/>
        </p:spPr>
        <p:txBody>
          <a:bodyPr wrap="square" lIns="0" tIns="0" rIns="0" bIns="0" rtlCol="0" anchor="ctr"/>
          <a:lstStyle/>
          <a:p>
            <a:pPr indent="0" marL="0">
              <a:buNone/>
            </a:pPr>
            <a:r>
              <a:rPr lang="en-US" sz="1400" dirty="0">
                <a:solidFill>
                  <a:srgbClr val="9FB3C8"/>
                </a:solidFill>
                <a:latin typeface="Calibri" pitchFamily="34" charset="0"/>
                <a:ea typeface="Calibri" pitchFamily="34" charset="-122"/>
                <a:cs typeface="Calibri" pitchFamily="34" charset="-120"/>
              </a:rPr>
              <a:t>Weekly PI update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11094415" cy="56692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Simulator now validated at the full 30×30 level</a:t>
            </a:r>
            <a:endParaRPr lang="en-US" sz="3200" dirty="0"/>
          </a:p>
        </p:txBody>
      </p:sp>
      <p:sp>
        <p:nvSpPr>
          <p:cNvPr id="3" name="Text 1"/>
          <p:cNvSpPr txBox="1"/>
          <p:nvPr/>
        </p:nvSpPr>
        <p:spPr>
          <a:xfrm>
            <a:off x="548640" y="969264"/>
            <a:ext cx="11094415" cy="329184"/>
          </a:xfrm>
          <a:prstGeom prst="rect">
            <a:avLst/>
          </a:prstGeom>
          <a:noFill/>
          <a:ln/>
        </p:spPr>
        <p:txBody>
          <a:bodyPr wrap="square" lIns="0" tIns="0" rIns="0" bIns="0" rtlCol="0" anchor="ctr"/>
          <a:lstStyle/>
          <a:p>
            <a:pPr indent="0" marL="0">
              <a:buNone/>
            </a:pPr>
            <a:r>
              <a:rPr lang="en-US" sz="1500" dirty="0">
                <a:solidFill>
                  <a:srgbClr val="5A6472"/>
                </a:solidFill>
                <a:latin typeface="Calibri" pitchFamily="34" charset="0"/>
                <a:ea typeface="Calibri" pitchFamily="34" charset="-122"/>
                <a:cs typeface="Calibri" pitchFamily="34" charset="-120"/>
              </a:rPr>
              <a:t>Previous check was the collapsed 6×6 in-phase block only. Extending it to the DQ/ZQ basis exposed two genuine errors.</a:t>
            </a:r>
            <a:endParaRPr lang="en-US" sz="1500" dirty="0"/>
          </a:p>
        </p:txBody>
      </p:sp>
      <p:pic>
        <p:nvPicPr>
          <p:cNvPr id="4" name="Image 0" descr="/Users/shankararamasharma/Desktop/IISc/CPMG Project/docs/group_meeting_figs/gm_dqzq_matrix_match.png">    </p:cNvPr>
          <p:cNvPicPr>
            <a:picLocks noChangeAspect="1"/>
          </p:cNvPicPr>
          <p:nvPr/>
        </p:nvPicPr>
        <p:blipFill>
          <a:blip r:embed="rId1"/>
          <a:stretch>
            <a:fillRect/>
          </a:stretch>
        </p:blipFill>
        <p:spPr>
          <a:xfrm>
            <a:off x="548640" y="1481328"/>
            <a:ext cx="5943600" cy="3048000"/>
          </a:xfrm>
          <a:prstGeom prst="rect">
            <a:avLst/>
          </a:prstGeom>
        </p:spPr>
      </p:pic>
      <p:sp>
        <p:nvSpPr>
          <p:cNvPr id="5" name="Text 2"/>
          <p:cNvSpPr txBox="1"/>
          <p:nvPr/>
        </p:nvSpPr>
        <p:spPr>
          <a:xfrm>
            <a:off x="548640" y="4590288"/>
            <a:ext cx="5943600" cy="274320"/>
          </a:xfrm>
          <a:prstGeom prst="rect">
            <a:avLst/>
          </a:prstGeom>
          <a:noFill/>
          <a:ln/>
        </p:spPr>
        <p:txBody>
          <a:bodyPr wrap="square" lIns="0" tIns="0" rIns="0" bIns="0" rtlCol="0" anchor="ctr"/>
          <a:lstStyle/>
          <a:p>
            <a:pPr indent="0" marL="0">
              <a:buNone/>
            </a:pPr>
            <a:r>
              <a:rPr lang="en-US" sz="1100" i="1" dirty="0">
                <a:solidFill>
                  <a:srgbClr val="5A6472"/>
                </a:solidFill>
                <a:latin typeface="Calibri" pitchFamily="34" charset="0"/>
                <a:ea typeface="Calibri" pitchFamily="34" charset="-122"/>
                <a:cs typeface="Calibri" pitchFamily="34" charset="-120"/>
              </a:rPr>
              <a:t>Difference vs ChemEx cpmg_hn_dq_zq: before (left) and after (right) the fixes</a:t>
            </a:r>
            <a:endParaRPr lang="en-US" sz="1100" dirty="0"/>
          </a:p>
        </p:txBody>
      </p:sp>
      <p:sp>
        <p:nvSpPr>
          <p:cNvPr id="6" name="Shape 3"/>
          <p:cNvSpPr/>
          <p:nvPr/>
        </p:nvSpPr>
        <p:spPr>
          <a:xfrm>
            <a:off x="6812280" y="1481328"/>
            <a:ext cx="4846320" cy="1371600"/>
          </a:xfrm>
          <a:prstGeom prst="roundRect">
            <a:avLst>
              <a:gd name="adj" fmla="val 4000"/>
            </a:avLst>
          </a:prstGeom>
          <a:solidFill>
            <a:srgbClr val="EEF2F6"/>
          </a:solidFill>
          <a:ln w="12700">
            <a:solidFill>
              <a:srgbClr val="EEF2F6"/>
            </a:solidFill>
            <a:prstDash val="solid"/>
          </a:ln>
        </p:spPr>
      </p:sp>
      <p:sp>
        <p:nvSpPr>
          <p:cNvPr id="7" name="Text 4"/>
          <p:cNvSpPr txBox="1"/>
          <p:nvPr/>
        </p:nvSpPr>
        <p:spPr>
          <a:xfrm>
            <a:off x="7040880" y="1645920"/>
            <a:ext cx="4389120" cy="1097280"/>
          </a:xfrm>
          <a:prstGeom prst="rect">
            <a:avLst/>
          </a:prstGeom>
          <a:noFill/>
          <a:ln/>
        </p:spPr>
        <p:txBody>
          <a:bodyPr wrap="square" lIns="0" tIns="0" rIns="0" bIns="0" rtlCol="0" anchor="ctr"/>
          <a:lstStyle/>
          <a:p>
            <a:pPr indent="0" marL="0">
              <a:lnSpc>
                <a:spcPts val="1500"/>
              </a:lnSpc>
              <a:buNone/>
            </a:pPr>
            <a:r>
              <a:rPr lang="en-US" sz="1500" b="1" dirty="0">
                <a:solidFill>
                  <a:srgbClr val="C1440E"/>
                </a:solidFill>
                <a:latin typeface="Calibri" pitchFamily="34" charset="0"/>
                <a:ea typeface="Calibri" pitchFamily="34" charset="-122"/>
                <a:cs typeface="Calibri" pitchFamily="34" charset="-120"/>
              </a:rPr>
              <a:t>Bug 1 — sign of μ_mq
</a:t>
            </a:r>
            <a:pPr indent="0" marL="0">
              <a:lnSpc>
                <a:spcPts val="1500"/>
              </a:lnSpc>
              <a:buNone/>
            </a:pPr>
            <a:r>
              <a:rPr lang="en-US" sz="1250" dirty="0">
                <a:solidFill>
                  <a:srgbClr val="1A1A1A"/>
                </a:solidFill>
                <a:latin typeface="Calibri" pitchFamily="34" charset="0"/>
                <a:ea typeface="Calibri" pitchFamily="34" charset="-122"/>
                <a:cs typeface="Calibri" pitchFamily="34" charset="-120"/>
              </a:rPr>
              <a:t>Allard Eq. [19] is written dσ/dt = −P·σ, so every printed matrix element must be negated on the way into the code. The DQ/ZQ cross-relaxation term was not.</a:t>
            </a:r>
            <a:endParaRPr lang="en-US" sz="1500" dirty="0"/>
          </a:p>
        </p:txBody>
      </p:sp>
      <p:sp>
        <p:nvSpPr>
          <p:cNvPr id="8" name="Shape 5"/>
          <p:cNvSpPr/>
          <p:nvPr/>
        </p:nvSpPr>
        <p:spPr>
          <a:xfrm>
            <a:off x="6812280" y="2980944"/>
            <a:ext cx="4846320" cy="1371600"/>
          </a:xfrm>
          <a:prstGeom prst="roundRect">
            <a:avLst>
              <a:gd name="adj" fmla="val 4000"/>
            </a:avLst>
          </a:prstGeom>
          <a:solidFill>
            <a:srgbClr val="EEF2F6"/>
          </a:solidFill>
          <a:ln w="12700">
            <a:solidFill>
              <a:srgbClr val="EEF2F6"/>
            </a:solidFill>
            <a:prstDash val="solid"/>
          </a:ln>
        </p:spPr>
      </p:sp>
      <p:sp>
        <p:nvSpPr>
          <p:cNvPr id="9" name="Text 6"/>
          <p:cNvSpPr txBox="1"/>
          <p:nvPr/>
        </p:nvSpPr>
        <p:spPr>
          <a:xfrm>
            <a:off x="7040880" y="3145536"/>
            <a:ext cx="4389120" cy="1097280"/>
          </a:xfrm>
          <a:prstGeom prst="rect">
            <a:avLst/>
          </a:prstGeom>
          <a:noFill/>
          <a:ln/>
        </p:spPr>
        <p:txBody>
          <a:bodyPr wrap="square" lIns="0" tIns="0" rIns="0" bIns="0" rtlCol="0" anchor="ctr"/>
          <a:lstStyle/>
          <a:p>
            <a:pPr indent="0" marL="0">
              <a:lnSpc>
                <a:spcPts val="1500"/>
              </a:lnSpc>
              <a:buNone/>
            </a:pPr>
            <a:r>
              <a:rPr lang="en-US" sz="1500" b="1" dirty="0">
                <a:solidFill>
                  <a:srgbClr val="C1440E"/>
                </a:solidFill>
                <a:latin typeface="Calibri" pitchFamily="34" charset="0"/>
                <a:ea typeface="Calibri" pitchFamily="34" charset="-122"/>
                <a:cs typeface="Calibri" pitchFamily="34" charset="-120"/>
              </a:rPr>
              <a:t>Bug 2 — spurious πJ in the MQ block
</a:t>
            </a:r>
            <a:pPr indent="0" marL="0">
              <a:lnSpc>
                <a:spcPts val="1500"/>
              </a:lnSpc>
              <a:buNone/>
            </a:pPr>
            <a:r>
              <a:rPr lang="en-US" sz="1250" dirty="0">
                <a:solidFill>
                  <a:srgbClr val="1A1A1A"/>
                </a:solidFill>
                <a:latin typeface="Calibri" pitchFamily="34" charset="0"/>
                <a:ea typeface="Calibri" pitchFamily="34" charset="-122"/>
                <a:cs typeface="Calibri" pitchFamily="34" charset="-120"/>
              </a:rPr>
              <a:t>A πJ coupling term had been added that does not appear in the paper. Verified [H_J, MQ] = 0 with explicit spin matrices — it should not be there.</a:t>
            </a:r>
            <a:endParaRPr lang="en-US" sz="1500" dirty="0"/>
          </a:p>
        </p:txBody>
      </p:sp>
      <p:sp>
        <p:nvSpPr>
          <p:cNvPr id="10" name="Shape 7"/>
          <p:cNvSpPr/>
          <p:nvPr/>
        </p:nvSpPr>
        <p:spPr>
          <a:xfrm>
            <a:off x="6812280" y="4480560"/>
            <a:ext cx="4846320" cy="1207008"/>
          </a:xfrm>
          <a:prstGeom prst="roundRect">
            <a:avLst>
              <a:gd name="adj" fmla="val 4545"/>
            </a:avLst>
          </a:prstGeom>
          <a:solidFill>
            <a:srgbClr val="E8F1EC"/>
          </a:solidFill>
          <a:ln w="12700">
            <a:solidFill>
              <a:srgbClr val="E8F1EC"/>
            </a:solidFill>
            <a:prstDash val="solid"/>
          </a:ln>
        </p:spPr>
      </p:sp>
      <p:sp>
        <p:nvSpPr>
          <p:cNvPr id="11" name="Text 8"/>
          <p:cNvSpPr txBox="1"/>
          <p:nvPr/>
        </p:nvSpPr>
        <p:spPr>
          <a:xfrm>
            <a:off x="7040880" y="4626864"/>
            <a:ext cx="4389120" cy="960120"/>
          </a:xfrm>
          <a:prstGeom prst="rect">
            <a:avLst/>
          </a:prstGeom>
          <a:noFill/>
          <a:ln/>
        </p:spPr>
        <p:txBody>
          <a:bodyPr wrap="square" lIns="0" tIns="0" rIns="0" bIns="0" rtlCol="0" anchor="ctr"/>
          <a:lstStyle/>
          <a:p>
            <a:pPr indent="0" marL="0">
              <a:lnSpc>
                <a:spcPts val="1500"/>
              </a:lnSpc>
              <a:buNone/>
            </a:pPr>
            <a:r>
              <a:rPr lang="en-US" sz="1500" b="1" dirty="0">
                <a:solidFill>
                  <a:srgbClr val="0F7B6C"/>
                </a:solidFill>
                <a:latin typeface="Calibri" pitchFamily="34" charset="0"/>
                <a:ea typeface="Calibri" pitchFamily="34" charset="-122"/>
                <a:cs typeface="Calibri" pitchFamily="34" charset="-120"/>
              </a:rPr>
              <a:t>Result: exact match
</a:t>
            </a:r>
            <a:pPr indent="0" marL="0">
              <a:lnSpc>
                <a:spcPts val="1500"/>
              </a:lnSpc>
              <a:buNone/>
            </a:pPr>
            <a:r>
              <a:rPr lang="en-US" sz="1250" dirty="0">
                <a:solidFill>
                  <a:srgbClr val="1A1A1A"/>
                </a:solidFill>
                <a:latin typeface="Calibri" pitchFamily="34" charset="0"/>
                <a:ea typeface="Calibri" pitchFamily="34" charset="-122"/>
                <a:cs typeface="Calibri" pitchFamily="34" charset="-120"/>
              </a:rPr>
              <a:t>All 900 elements agree to machine precision. In-phase results were unaffected; CW-CPMG was affected and is now corrected.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11094415" cy="56692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Synthetic data generated; models trained and benchmarked</a:t>
            </a:r>
            <a:endParaRPr lang="en-US" sz="3200" dirty="0"/>
          </a:p>
        </p:txBody>
      </p:sp>
      <p:sp>
        <p:nvSpPr>
          <p:cNvPr id="3" name="Text 1"/>
          <p:cNvSpPr txBox="1"/>
          <p:nvPr/>
        </p:nvSpPr>
        <p:spPr>
          <a:xfrm>
            <a:off x="548640" y="969264"/>
            <a:ext cx="11094415" cy="329184"/>
          </a:xfrm>
          <a:prstGeom prst="rect">
            <a:avLst/>
          </a:prstGeom>
          <a:noFill/>
          <a:ln/>
        </p:spPr>
        <p:txBody>
          <a:bodyPr wrap="square" lIns="0" tIns="0" rIns="0" bIns="0" rtlCol="0" anchor="ctr"/>
          <a:lstStyle/>
          <a:p>
            <a:pPr indent="0" marL="0">
              <a:buNone/>
            </a:pPr>
            <a:r>
              <a:rPr lang="en-US" sz="1500" dirty="0">
                <a:solidFill>
                  <a:srgbClr val="5A6472"/>
                </a:solidFill>
                <a:latin typeface="Calibri" pitchFamily="34" charset="0"/>
                <a:ea typeface="Calibri" pitchFamily="34" charset="-122"/>
                <a:cs typeface="Calibri" pitchFamily="34" charset="-120"/>
              </a:rPr>
              <a:t>540 k paired profiles (with-J → J-free) using the ChemEx pulse sequence. Models see only what a spectrometer knows: ν_CPMG, R₂ᵉᶠᶠ, B₀, B₁, J.</a:t>
            </a:r>
            <a:endParaRPr lang="en-US" sz="1500" dirty="0"/>
          </a:p>
        </p:txBody>
      </p:sp>
      <p:sp>
        <p:nvSpPr>
          <p:cNvPr id="4" name="Text 2"/>
          <p:cNvSpPr txBox="1"/>
          <p:nvPr/>
        </p:nvSpPr>
        <p:spPr>
          <a:xfrm>
            <a:off x="548640" y="1572768"/>
            <a:ext cx="5669280" cy="274320"/>
          </a:xfrm>
          <a:prstGeom prst="rect">
            <a:avLst/>
          </a:prstGeom>
          <a:noFill/>
          <a:ln/>
        </p:spPr>
        <p:txBody>
          <a:bodyPr wrap="square" lIns="0" tIns="0" rIns="0" bIns="0"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Baseline ladder — 500 k training set, clean data</a:t>
            </a:r>
            <a:endParaRPr lang="en-US" sz="1300" dirty="0"/>
          </a:p>
        </p:txBody>
      </p:sp>
      <p:sp>
        <p:nvSpPr>
          <p:cNvPr id="5" name="Text 3"/>
          <p:cNvSpPr txBox="1"/>
          <p:nvPr/>
        </p:nvSpPr>
        <p:spPr>
          <a:xfrm>
            <a:off x="548640" y="1938528"/>
            <a:ext cx="5669280" cy="274320"/>
          </a:xfrm>
          <a:prstGeom prst="rect">
            <a:avLst/>
          </a:prstGeom>
          <a:noFill/>
          <a:ln/>
        </p:spPr>
        <p:txBody>
          <a:bodyPr wrap="square" lIns="0" tIns="0" rIns="0" bIns="0" rtlCol="0" anchor="ctr"/>
          <a:lstStyle/>
          <a:p>
            <a:pPr indent="0" marL="0">
              <a:buNone/>
            </a:pPr>
            <a:r>
              <a:rPr lang="en-US" sz="1150" b="1" dirty="0">
                <a:solidFill>
                  <a:srgbClr val="5A6472"/>
                </a:solidFill>
                <a:latin typeface="Calibri" pitchFamily="34" charset="0"/>
                <a:ea typeface="Calibri" pitchFamily="34" charset="-122"/>
                <a:cs typeface="Calibri" pitchFamily="34" charset="-120"/>
              </a:rPr>
              <a:t>model</a:t>
            </a:r>
            <a:pPr indent="0" marL="0">
              <a:buNone/>
            </a:pPr>
            <a:r>
              <a:rPr lang="en-US" sz="1150" b="1" dirty="0">
                <a:solidFill>
                  <a:srgbClr val="5A6472"/>
                </a:solidFill>
                <a:latin typeface="Calibri" pitchFamily="34" charset="0"/>
                <a:ea typeface="Calibri" pitchFamily="34" charset="-122"/>
                <a:cs typeface="Calibri" pitchFamily="34" charset="-120"/>
              </a:rPr>
              <a:t>          params      RMSE      removed</a:t>
            </a:r>
            <a:endParaRPr lang="en-US" sz="1150" dirty="0"/>
          </a:p>
        </p:txBody>
      </p:sp>
      <p:sp>
        <p:nvSpPr>
          <p:cNvPr id="6" name="Text 4"/>
          <p:cNvSpPr txBox="1"/>
          <p:nvPr/>
        </p:nvSpPr>
        <p:spPr>
          <a:xfrm>
            <a:off x="621792" y="2267712"/>
            <a:ext cx="2286000" cy="329184"/>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identity (do nothing)</a:t>
            </a:r>
            <a:endParaRPr lang="en-US" sz="1250" dirty="0"/>
          </a:p>
        </p:txBody>
      </p:sp>
      <p:sp>
        <p:nvSpPr>
          <p:cNvPr id="7" name="Text 5"/>
          <p:cNvSpPr txBox="1"/>
          <p:nvPr/>
        </p:nvSpPr>
        <p:spPr>
          <a:xfrm>
            <a:off x="2926080" y="2267712"/>
            <a:ext cx="1005840" cy="329184"/>
          </a:xfrm>
          <a:prstGeom prst="rect">
            <a:avLst/>
          </a:prstGeom>
          <a:noFill/>
          <a:ln/>
        </p:spPr>
        <p:txBody>
          <a:bodyPr wrap="square" lIns="0" tIns="0" rIns="0" bIns="0" rtlCol="0" anchor="ctr"/>
          <a:lstStyle/>
          <a:p>
            <a:pPr algn="r" indent="0" marL="0">
              <a:buNone/>
            </a:pPr>
            <a:r>
              <a:rPr lang="en-US" sz="1250" dirty="0">
                <a:solidFill>
                  <a:srgbClr val="5A6472"/>
                </a:solidFill>
                <a:latin typeface="Calibri" pitchFamily="34" charset="0"/>
                <a:ea typeface="Calibri" pitchFamily="34" charset="-122"/>
                <a:cs typeface="Calibri" pitchFamily="34" charset="-120"/>
              </a:rPr>
              <a:t>0</a:t>
            </a:r>
            <a:endParaRPr lang="en-US" sz="1250" dirty="0"/>
          </a:p>
        </p:txBody>
      </p:sp>
      <p:sp>
        <p:nvSpPr>
          <p:cNvPr id="8" name="Text 6"/>
          <p:cNvSpPr txBox="1"/>
          <p:nvPr/>
        </p:nvSpPr>
        <p:spPr>
          <a:xfrm>
            <a:off x="4023360" y="2267712"/>
            <a:ext cx="1005840" cy="329184"/>
          </a:xfrm>
          <a:prstGeom prst="rect">
            <a:avLst/>
          </a:prstGeom>
          <a:noFill/>
          <a:ln/>
        </p:spPr>
        <p:txBody>
          <a:bodyPr wrap="square" lIns="0" tIns="0" rIns="0" bIns="0" rtlCol="0" anchor="ctr"/>
          <a:lstStyle/>
          <a:p>
            <a:pPr algn="r" indent="0" marL="0">
              <a:buNone/>
            </a:pPr>
            <a:r>
              <a:rPr lang="en-US" sz="1250" dirty="0">
                <a:solidFill>
                  <a:srgbClr val="1A1A1A"/>
                </a:solidFill>
                <a:latin typeface="Calibri" pitchFamily="34" charset="0"/>
                <a:ea typeface="Calibri" pitchFamily="34" charset="-122"/>
                <a:cs typeface="Calibri" pitchFamily="34" charset="-120"/>
              </a:rPr>
              <a:t>0.819</a:t>
            </a:r>
            <a:endParaRPr lang="en-US" sz="1250" dirty="0"/>
          </a:p>
        </p:txBody>
      </p:sp>
      <p:sp>
        <p:nvSpPr>
          <p:cNvPr id="9" name="Text 7"/>
          <p:cNvSpPr txBox="1"/>
          <p:nvPr/>
        </p:nvSpPr>
        <p:spPr>
          <a:xfrm>
            <a:off x="5120640" y="2267712"/>
            <a:ext cx="1051560" cy="329184"/>
          </a:xfrm>
          <a:prstGeom prst="rect">
            <a:avLst/>
          </a:prstGeom>
          <a:noFill/>
          <a:ln/>
        </p:spPr>
        <p:txBody>
          <a:bodyPr wrap="square" lIns="0" tIns="0" rIns="0" bIns="0" rtlCol="0" anchor="ctr"/>
          <a:lstStyle/>
          <a:p>
            <a:pPr algn="r" indent="0" marL="0">
              <a:buNone/>
            </a:pPr>
            <a:r>
              <a:rPr lang="en-US" sz="1250" dirty="0">
                <a:solidFill>
                  <a:srgbClr val="1A1A1A"/>
                </a:solidFill>
                <a:latin typeface="Calibri" pitchFamily="34" charset="0"/>
                <a:ea typeface="Calibri" pitchFamily="34" charset="-122"/>
                <a:cs typeface="Calibri" pitchFamily="34" charset="-120"/>
              </a:rPr>
              <a:t>—</a:t>
            </a:r>
            <a:endParaRPr lang="en-US" sz="1250" dirty="0"/>
          </a:p>
        </p:txBody>
      </p:sp>
      <p:sp>
        <p:nvSpPr>
          <p:cNvPr id="10" name="Text 8"/>
          <p:cNvSpPr txBox="1"/>
          <p:nvPr/>
        </p:nvSpPr>
        <p:spPr>
          <a:xfrm>
            <a:off x="621792" y="2651760"/>
            <a:ext cx="2286000" cy="329184"/>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linear</a:t>
            </a:r>
            <a:endParaRPr lang="en-US" sz="1250" dirty="0"/>
          </a:p>
        </p:txBody>
      </p:sp>
      <p:sp>
        <p:nvSpPr>
          <p:cNvPr id="11" name="Text 9"/>
          <p:cNvSpPr txBox="1"/>
          <p:nvPr/>
        </p:nvSpPr>
        <p:spPr>
          <a:xfrm>
            <a:off x="2926080" y="2651760"/>
            <a:ext cx="1005840" cy="329184"/>
          </a:xfrm>
          <a:prstGeom prst="rect">
            <a:avLst/>
          </a:prstGeom>
          <a:noFill/>
          <a:ln/>
        </p:spPr>
        <p:txBody>
          <a:bodyPr wrap="square" lIns="0" tIns="0" rIns="0" bIns="0" rtlCol="0" anchor="ctr"/>
          <a:lstStyle/>
          <a:p>
            <a:pPr algn="r" indent="0" marL="0">
              <a:buNone/>
            </a:pPr>
            <a:r>
              <a:rPr lang="en-US" sz="1250" dirty="0">
                <a:solidFill>
                  <a:srgbClr val="5A6472"/>
                </a:solidFill>
                <a:latin typeface="Calibri" pitchFamily="34" charset="0"/>
                <a:ea typeface="Calibri" pitchFamily="34" charset="-122"/>
                <a:cs typeface="Calibri" pitchFamily="34" charset="-120"/>
              </a:rPr>
              <a:t>3.4 K</a:t>
            </a:r>
            <a:endParaRPr lang="en-US" sz="1250" dirty="0"/>
          </a:p>
        </p:txBody>
      </p:sp>
      <p:sp>
        <p:nvSpPr>
          <p:cNvPr id="12" name="Text 10"/>
          <p:cNvSpPr txBox="1"/>
          <p:nvPr/>
        </p:nvSpPr>
        <p:spPr>
          <a:xfrm>
            <a:off x="4023360" y="2651760"/>
            <a:ext cx="1005840" cy="329184"/>
          </a:xfrm>
          <a:prstGeom prst="rect">
            <a:avLst/>
          </a:prstGeom>
          <a:noFill/>
          <a:ln/>
        </p:spPr>
        <p:txBody>
          <a:bodyPr wrap="square" lIns="0" tIns="0" rIns="0" bIns="0" rtlCol="0" anchor="ctr"/>
          <a:lstStyle/>
          <a:p>
            <a:pPr algn="r" indent="0" marL="0">
              <a:buNone/>
            </a:pPr>
            <a:r>
              <a:rPr lang="en-US" sz="1250" dirty="0">
                <a:solidFill>
                  <a:srgbClr val="1A1A1A"/>
                </a:solidFill>
                <a:latin typeface="Calibri" pitchFamily="34" charset="0"/>
                <a:ea typeface="Calibri" pitchFamily="34" charset="-122"/>
                <a:cs typeface="Calibri" pitchFamily="34" charset="-120"/>
              </a:rPr>
              <a:t>0.541</a:t>
            </a:r>
            <a:endParaRPr lang="en-US" sz="1250" dirty="0"/>
          </a:p>
        </p:txBody>
      </p:sp>
      <p:sp>
        <p:nvSpPr>
          <p:cNvPr id="13" name="Text 11"/>
          <p:cNvSpPr txBox="1"/>
          <p:nvPr/>
        </p:nvSpPr>
        <p:spPr>
          <a:xfrm>
            <a:off x="5120640" y="2651760"/>
            <a:ext cx="1051560" cy="329184"/>
          </a:xfrm>
          <a:prstGeom prst="rect">
            <a:avLst/>
          </a:prstGeom>
          <a:noFill/>
          <a:ln/>
        </p:spPr>
        <p:txBody>
          <a:bodyPr wrap="square" lIns="0" tIns="0" rIns="0" bIns="0" rtlCol="0" anchor="ctr"/>
          <a:lstStyle/>
          <a:p>
            <a:pPr algn="r" indent="0" marL="0">
              <a:buNone/>
            </a:pPr>
            <a:r>
              <a:rPr lang="en-US" sz="1250" dirty="0">
                <a:solidFill>
                  <a:srgbClr val="1A1A1A"/>
                </a:solidFill>
                <a:latin typeface="Calibri" pitchFamily="34" charset="0"/>
                <a:ea typeface="Calibri" pitchFamily="34" charset="-122"/>
                <a:cs typeface="Calibri" pitchFamily="34" charset="-120"/>
              </a:rPr>
              <a:t>33.9%</a:t>
            </a:r>
            <a:endParaRPr lang="en-US" sz="1250" dirty="0"/>
          </a:p>
        </p:txBody>
      </p:sp>
      <p:sp>
        <p:nvSpPr>
          <p:cNvPr id="14" name="Text 12"/>
          <p:cNvSpPr txBox="1"/>
          <p:nvPr/>
        </p:nvSpPr>
        <p:spPr>
          <a:xfrm>
            <a:off x="621792" y="3035808"/>
            <a:ext cx="2286000" cy="329184"/>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MLP</a:t>
            </a:r>
            <a:endParaRPr lang="en-US" sz="1250" dirty="0"/>
          </a:p>
        </p:txBody>
      </p:sp>
      <p:sp>
        <p:nvSpPr>
          <p:cNvPr id="15" name="Text 13"/>
          <p:cNvSpPr txBox="1"/>
          <p:nvPr/>
        </p:nvSpPr>
        <p:spPr>
          <a:xfrm>
            <a:off x="2926080" y="3035808"/>
            <a:ext cx="1005840" cy="329184"/>
          </a:xfrm>
          <a:prstGeom prst="rect">
            <a:avLst/>
          </a:prstGeom>
          <a:noFill/>
          <a:ln/>
        </p:spPr>
        <p:txBody>
          <a:bodyPr wrap="square" lIns="0" tIns="0" rIns="0" bIns="0" rtlCol="0" anchor="ctr"/>
          <a:lstStyle/>
          <a:p>
            <a:pPr algn="r" indent="0" marL="0">
              <a:buNone/>
            </a:pPr>
            <a:r>
              <a:rPr lang="en-US" sz="1250" dirty="0">
                <a:solidFill>
                  <a:srgbClr val="5A6472"/>
                </a:solidFill>
                <a:latin typeface="Calibri" pitchFamily="34" charset="0"/>
                <a:ea typeface="Calibri" pitchFamily="34" charset="-122"/>
                <a:cs typeface="Calibri" pitchFamily="34" charset="-120"/>
              </a:rPr>
              <a:t>852 K</a:t>
            </a:r>
            <a:endParaRPr lang="en-US" sz="1250" dirty="0"/>
          </a:p>
        </p:txBody>
      </p:sp>
      <p:sp>
        <p:nvSpPr>
          <p:cNvPr id="16" name="Text 14"/>
          <p:cNvSpPr txBox="1"/>
          <p:nvPr/>
        </p:nvSpPr>
        <p:spPr>
          <a:xfrm>
            <a:off x="4023360" y="3035808"/>
            <a:ext cx="1005840" cy="329184"/>
          </a:xfrm>
          <a:prstGeom prst="rect">
            <a:avLst/>
          </a:prstGeom>
          <a:noFill/>
          <a:ln/>
        </p:spPr>
        <p:txBody>
          <a:bodyPr wrap="square" lIns="0" tIns="0" rIns="0" bIns="0" rtlCol="0" anchor="ctr"/>
          <a:lstStyle/>
          <a:p>
            <a:pPr algn="r" indent="0" marL="0">
              <a:buNone/>
            </a:pPr>
            <a:r>
              <a:rPr lang="en-US" sz="1250" dirty="0">
                <a:solidFill>
                  <a:srgbClr val="1A1A1A"/>
                </a:solidFill>
                <a:latin typeface="Calibri" pitchFamily="34" charset="0"/>
                <a:ea typeface="Calibri" pitchFamily="34" charset="-122"/>
                <a:cs typeface="Calibri" pitchFamily="34" charset="-120"/>
              </a:rPr>
              <a:t>0.206</a:t>
            </a:r>
            <a:endParaRPr lang="en-US" sz="1250" dirty="0"/>
          </a:p>
        </p:txBody>
      </p:sp>
      <p:sp>
        <p:nvSpPr>
          <p:cNvPr id="17" name="Text 15"/>
          <p:cNvSpPr txBox="1"/>
          <p:nvPr/>
        </p:nvSpPr>
        <p:spPr>
          <a:xfrm>
            <a:off x="5120640" y="3035808"/>
            <a:ext cx="1051560" cy="329184"/>
          </a:xfrm>
          <a:prstGeom prst="rect">
            <a:avLst/>
          </a:prstGeom>
          <a:noFill/>
          <a:ln/>
        </p:spPr>
        <p:txBody>
          <a:bodyPr wrap="square" lIns="0" tIns="0" rIns="0" bIns="0" rtlCol="0" anchor="ctr"/>
          <a:lstStyle/>
          <a:p>
            <a:pPr algn="r" indent="0" marL="0">
              <a:buNone/>
            </a:pPr>
            <a:r>
              <a:rPr lang="en-US" sz="1250" dirty="0">
                <a:solidFill>
                  <a:srgbClr val="1A1A1A"/>
                </a:solidFill>
                <a:latin typeface="Calibri" pitchFamily="34" charset="0"/>
                <a:ea typeface="Calibri" pitchFamily="34" charset="-122"/>
                <a:cs typeface="Calibri" pitchFamily="34" charset="-120"/>
              </a:rPr>
              <a:t>74.9%</a:t>
            </a:r>
            <a:endParaRPr lang="en-US" sz="1250" dirty="0"/>
          </a:p>
        </p:txBody>
      </p:sp>
      <p:sp>
        <p:nvSpPr>
          <p:cNvPr id="18" name="Text 16"/>
          <p:cNvSpPr txBox="1"/>
          <p:nvPr/>
        </p:nvSpPr>
        <p:spPr>
          <a:xfrm>
            <a:off x="621792" y="3419856"/>
            <a:ext cx="2286000" cy="329184"/>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Transformer</a:t>
            </a:r>
            <a:endParaRPr lang="en-US" sz="1250" dirty="0"/>
          </a:p>
        </p:txBody>
      </p:sp>
      <p:sp>
        <p:nvSpPr>
          <p:cNvPr id="19" name="Text 17"/>
          <p:cNvSpPr txBox="1"/>
          <p:nvPr/>
        </p:nvSpPr>
        <p:spPr>
          <a:xfrm>
            <a:off x="2926080" y="3419856"/>
            <a:ext cx="1005840" cy="329184"/>
          </a:xfrm>
          <a:prstGeom prst="rect">
            <a:avLst/>
          </a:prstGeom>
          <a:noFill/>
          <a:ln/>
        </p:spPr>
        <p:txBody>
          <a:bodyPr wrap="square" lIns="0" tIns="0" rIns="0" bIns="0" rtlCol="0" anchor="ctr"/>
          <a:lstStyle/>
          <a:p>
            <a:pPr algn="r" indent="0" marL="0">
              <a:buNone/>
            </a:pPr>
            <a:r>
              <a:rPr lang="en-US" sz="1250" dirty="0">
                <a:solidFill>
                  <a:srgbClr val="5A6472"/>
                </a:solidFill>
                <a:latin typeface="Calibri" pitchFamily="34" charset="0"/>
                <a:ea typeface="Calibri" pitchFamily="34" charset="-122"/>
                <a:cs typeface="Calibri" pitchFamily="34" charset="-120"/>
              </a:rPr>
              <a:t>581 K</a:t>
            </a:r>
            <a:endParaRPr lang="en-US" sz="1250" dirty="0"/>
          </a:p>
        </p:txBody>
      </p:sp>
      <p:sp>
        <p:nvSpPr>
          <p:cNvPr id="20" name="Text 18"/>
          <p:cNvSpPr txBox="1"/>
          <p:nvPr/>
        </p:nvSpPr>
        <p:spPr>
          <a:xfrm>
            <a:off x="4023360" y="3419856"/>
            <a:ext cx="1005840" cy="329184"/>
          </a:xfrm>
          <a:prstGeom prst="rect">
            <a:avLst/>
          </a:prstGeom>
          <a:noFill/>
          <a:ln/>
        </p:spPr>
        <p:txBody>
          <a:bodyPr wrap="square" lIns="0" tIns="0" rIns="0" bIns="0" rtlCol="0" anchor="ctr"/>
          <a:lstStyle/>
          <a:p>
            <a:pPr algn="r" indent="0" marL="0">
              <a:buNone/>
            </a:pPr>
            <a:r>
              <a:rPr lang="en-US" sz="1250" dirty="0">
                <a:solidFill>
                  <a:srgbClr val="1A1A1A"/>
                </a:solidFill>
                <a:latin typeface="Calibri" pitchFamily="34" charset="0"/>
                <a:ea typeface="Calibri" pitchFamily="34" charset="-122"/>
                <a:cs typeface="Calibri" pitchFamily="34" charset="-120"/>
              </a:rPr>
              <a:t>0.071</a:t>
            </a:r>
            <a:endParaRPr lang="en-US" sz="1250" dirty="0"/>
          </a:p>
        </p:txBody>
      </p:sp>
      <p:sp>
        <p:nvSpPr>
          <p:cNvPr id="21" name="Text 19"/>
          <p:cNvSpPr txBox="1"/>
          <p:nvPr/>
        </p:nvSpPr>
        <p:spPr>
          <a:xfrm>
            <a:off x="5120640" y="3419856"/>
            <a:ext cx="1051560" cy="329184"/>
          </a:xfrm>
          <a:prstGeom prst="rect">
            <a:avLst/>
          </a:prstGeom>
          <a:noFill/>
          <a:ln/>
        </p:spPr>
        <p:txBody>
          <a:bodyPr wrap="square" lIns="0" tIns="0" rIns="0" bIns="0" rtlCol="0" anchor="ctr"/>
          <a:lstStyle/>
          <a:p>
            <a:pPr algn="r" indent="0" marL="0">
              <a:buNone/>
            </a:pPr>
            <a:r>
              <a:rPr lang="en-US" sz="1250" dirty="0">
                <a:solidFill>
                  <a:srgbClr val="1A1A1A"/>
                </a:solidFill>
                <a:latin typeface="Calibri" pitchFamily="34" charset="0"/>
                <a:ea typeface="Calibri" pitchFamily="34" charset="-122"/>
                <a:cs typeface="Calibri" pitchFamily="34" charset="-120"/>
              </a:rPr>
              <a:t>91.3%</a:t>
            </a:r>
            <a:endParaRPr lang="en-US" sz="1250" dirty="0"/>
          </a:p>
        </p:txBody>
      </p:sp>
      <p:sp>
        <p:nvSpPr>
          <p:cNvPr id="22" name="Shape 20"/>
          <p:cNvSpPr/>
          <p:nvPr/>
        </p:nvSpPr>
        <p:spPr>
          <a:xfrm>
            <a:off x="502920" y="3758184"/>
            <a:ext cx="5760720" cy="402336"/>
          </a:xfrm>
          <a:prstGeom prst="roundRect">
            <a:avLst>
              <a:gd name="adj" fmla="val 13636"/>
            </a:avLst>
          </a:prstGeom>
          <a:solidFill>
            <a:srgbClr val="E8F1EC"/>
          </a:solidFill>
          <a:ln w="12700">
            <a:solidFill>
              <a:srgbClr val="E8F1EC"/>
            </a:solidFill>
            <a:prstDash val="solid"/>
          </a:ln>
        </p:spPr>
      </p:sp>
      <p:sp>
        <p:nvSpPr>
          <p:cNvPr id="23" name="Text 21"/>
          <p:cNvSpPr txBox="1"/>
          <p:nvPr/>
        </p:nvSpPr>
        <p:spPr>
          <a:xfrm>
            <a:off x="621792" y="3803904"/>
            <a:ext cx="2286000" cy="329184"/>
          </a:xfrm>
          <a:prstGeom prst="rect">
            <a:avLst/>
          </a:prstGeom>
          <a:noFill/>
          <a:ln/>
        </p:spPr>
        <p:txBody>
          <a:bodyPr wrap="square" lIns="0" tIns="0" rIns="0" bIns="0" rtlCol="0" anchor="ctr"/>
          <a:lstStyle/>
          <a:p>
            <a:pPr indent="0" marL="0">
              <a:buNone/>
            </a:pPr>
            <a:r>
              <a:rPr lang="en-US" sz="1250" b="1" dirty="0">
                <a:solidFill>
                  <a:srgbClr val="0F7B6C"/>
                </a:solidFill>
                <a:latin typeface="Calibri" pitchFamily="34" charset="0"/>
                <a:ea typeface="Calibri" pitchFamily="34" charset="-122"/>
                <a:cs typeface="Calibri" pitchFamily="34" charset="-120"/>
              </a:rPr>
              <a:t>FiLM-CNN</a:t>
            </a:r>
            <a:endParaRPr lang="en-US" sz="1250" dirty="0"/>
          </a:p>
        </p:txBody>
      </p:sp>
      <p:sp>
        <p:nvSpPr>
          <p:cNvPr id="24" name="Text 22"/>
          <p:cNvSpPr txBox="1"/>
          <p:nvPr/>
        </p:nvSpPr>
        <p:spPr>
          <a:xfrm>
            <a:off x="2926080" y="3803904"/>
            <a:ext cx="1005840" cy="329184"/>
          </a:xfrm>
          <a:prstGeom prst="rect">
            <a:avLst/>
          </a:prstGeom>
          <a:noFill/>
          <a:ln/>
        </p:spPr>
        <p:txBody>
          <a:bodyPr wrap="square" lIns="0" tIns="0" rIns="0" bIns="0" rtlCol="0" anchor="ctr"/>
          <a:lstStyle/>
          <a:p>
            <a:pPr algn="r" indent="0" marL="0">
              <a:buNone/>
            </a:pPr>
            <a:r>
              <a:rPr lang="en-US" sz="1250" dirty="0">
                <a:solidFill>
                  <a:srgbClr val="5A6472"/>
                </a:solidFill>
                <a:latin typeface="Calibri" pitchFamily="34" charset="0"/>
                <a:ea typeface="Calibri" pitchFamily="34" charset="-122"/>
                <a:cs typeface="Calibri" pitchFamily="34" charset="-120"/>
              </a:rPr>
              <a:t>770 K</a:t>
            </a:r>
            <a:endParaRPr lang="en-US" sz="1250" dirty="0"/>
          </a:p>
        </p:txBody>
      </p:sp>
      <p:sp>
        <p:nvSpPr>
          <p:cNvPr id="25" name="Text 23"/>
          <p:cNvSpPr txBox="1"/>
          <p:nvPr/>
        </p:nvSpPr>
        <p:spPr>
          <a:xfrm>
            <a:off x="4023360" y="3803904"/>
            <a:ext cx="1005840" cy="329184"/>
          </a:xfrm>
          <a:prstGeom prst="rect">
            <a:avLst/>
          </a:prstGeom>
          <a:noFill/>
          <a:ln/>
        </p:spPr>
        <p:txBody>
          <a:bodyPr wrap="square" lIns="0" tIns="0" rIns="0" bIns="0" rtlCol="0" anchor="ctr"/>
          <a:lstStyle/>
          <a:p>
            <a:pPr algn="r" indent="0" marL="0">
              <a:buNone/>
            </a:pPr>
            <a:r>
              <a:rPr lang="en-US" sz="1250" b="1" dirty="0">
                <a:solidFill>
                  <a:srgbClr val="0F7B6C"/>
                </a:solidFill>
                <a:latin typeface="Calibri" pitchFamily="34" charset="0"/>
                <a:ea typeface="Calibri" pitchFamily="34" charset="-122"/>
                <a:cs typeface="Calibri" pitchFamily="34" charset="-120"/>
              </a:rPr>
              <a:t>0.053</a:t>
            </a:r>
            <a:endParaRPr lang="en-US" sz="1250" dirty="0"/>
          </a:p>
        </p:txBody>
      </p:sp>
      <p:sp>
        <p:nvSpPr>
          <p:cNvPr id="26" name="Text 24"/>
          <p:cNvSpPr txBox="1"/>
          <p:nvPr/>
        </p:nvSpPr>
        <p:spPr>
          <a:xfrm>
            <a:off x="5120640" y="3803904"/>
            <a:ext cx="1051560" cy="329184"/>
          </a:xfrm>
          <a:prstGeom prst="rect">
            <a:avLst/>
          </a:prstGeom>
          <a:noFill/>
          <a:ln/>
        </p:spPr>
        <p:txBody>
          <a:bodyPr wrap="square" lIns="0" tIns="0" rIns="0" bIns="0" rtlCol="0" anchor="ctr"/>
          <a:lstStyle/>
          <a:p>
            <a:pPr algn="r" indent="0" marL="0">
              <a:buNone/>
            </a:pPr>
            <a:r>
              <a:rPr lang="en-US" sz="1250" b="1" dirty="0">
                <a:solidFill>
                  <a:srgbClr val="0F7B6C"/>
                </a:solidFill>
                <a:latin typeface="Calibri" pitchFamily="34" charset="0"/>
                <a:ea typeface="Calibri" pitchFamily="34" charset="-122"/>
                <a:cs typeface="Calibri" pitchFamily="34" charset="-120"/>
              </a:rPr>
              <a:t>93.5%</a:t>
            </a:r>
            <a:endParaRPr lang="en-US" sz="1250" dirty="0"/>
          </a:p>
        </p:txBody>
      </p:sp>
      <p:sp>
        <p:nvSpPr>
          <p:cNvPr id="27" name="Shape 25"/>
          <p:cNvSpPr/>
          <p:nvPr/>
        </p:nvSpPr>
        <p:spPr>
          <a:xfrm>
            <a:off x="6675120" y="1572768"/>
            <a:ext cx="4983480" cy="2084832"/>
          </a:xfrm>
          <a:prstGeom prst="roundRect">
            <a:avLst>
              <a:gd name="adj" fmla="val 2632"/>
            </a:avLst>
          </a:prstGeom>
          <a:solidFill>
            <a:srgbClr val="F4F6F8"/>
          </a:solidFill>
          <a:ln w="12700">
            <a:solidFill>
              <a:srgbClr val="F4F6F8"/>
            </a:solidFill>
            <a:prstDash val="solid"/>
          </a:ln>
        </p:spPr>
      </p:sp>
      <p:sp>
        <p:nvSpPr>
          <p:cNvPr id="28" name="Text 26"/>
          <p:cNvSpPr txBox="1"/>
          <p:nvPr/>
        </p:nvSpPr>
        <p:spPr>
          <a:xfrm>
            <a:off x="6903720" y="1737360"/>
            <a:ext cx="4526280" cy="1737360"/>
          </a:xfrm>
          <a:prstGeom prst="rect">
            <a:avLst/>
          </a:prstGeom>
          <a:noFill/>
          <a:ln/>
        </p:spPr>
        <p:txBody>
          <a:bodyPr wrap="square" lIns="0" tIns="0" rIns="0" bIns="0" rtlCol="0" anchor="ctr"/>
          <a:lstStyle/>
          <a:p>
            <a:pPr indent="0" marL="0">
              <a:lnSpc>
                <a:spcPts val="1700"/>
              </a:lnSpc>
              <a:buNone/>
            </a:pPr>
            <a:r>
              <a:rPr lang="en-US" sz="1450" b="1" dirty="0">
                <a:solidFill>
                  <a:srgbClr val="21295C"/>
                </a:solidFill>
                <a:latin typeface="Calibri" pitchFamily="34" charset="0"/>
                <a:ea typeface="Calibri" pitchFamily="34" charset="-122"/>
                <a:cs typeface="Calibri" pitchFamily="34" charset="-120"/>
              </a:rPr>
              <a:t>Scaling the data mattered more than the architecture
</a:t>
            </a:r>
            <a:pPr indent="0" marL="0">
              <a:lnSpc>
                <a:spcPts val="1700"/>
              </a:lnSpc>
              <a:buNone/>
            </a:pPr>
            <a:r>
              <a:rPr lang="en-US" sz="1250" dirty="0">
                <a:solidFill>
                  <a:srgbClr val="1A1A1A"/>
                </a:solidFill>
                <a:latin typeface="Calibri" pitchFamily="34" charset="0"/>
                <a:ea typeface="Calibri" pitchFamily="34" charset="-122"/>
                <a:cs typeface="Calibri" pitchFamily="34" charset="-120"/>
              </a:rPr>
              <a:t>Going 60 k → 500 k profiles, same model, clean data:
</a:t>
            </a:r>
            <a:pPr indent="0" marL="0">
              <a:lnSpc>
                <a:spcPts val="1700"/>
              </a:lnSpc>
              <a:buNone/>
            </a:pPr>
            <a:r>
              <a:rPr lang="en-US" sz="1300" b="1" dirty="0">
                <a:solidFill>
                  <a:srgbClr val="0F7B6C"/>
                </a:solidFill>
                <a:latin typeface="Calibri" pitchFamily="34" charset="0"/>
                <a:ea typeface="Calibri" pitchFamily="34" charset="-122"/>
                <a:cs typeface="Calibri" pitchFamily="34" charset="-120"/>
              </a:rPr>
              <a:t>median error 0.069 → 0.010 s⁻¹  (6.8× better)</a:t>
            </a:r>
            <a:endParaRPr lang="en-US" sz="1450" dirty="0"/>
          </a:p>
        </p:txBody>
      </p:sp>
      <p:sp>
        <p:nvSpPr>
          <p:cNvPr id="29" name="Text 27"/>
          <p:cNvSpPr txBox="1"/>
          <p:nvPr/>
        </p:nvSpPr>
        <p:spPr>
          <a:xfrm>
            <a:off x="6675120" y="3886200"/>
            <a:ext cx="2377440" cy="658368"/>
          </a:xfrm>
          <a:prstGeom prst="rect">
            <a:avLst/>
          </a:prstGeom>
          <a:noFill/>
          <a:ln/>
        </p:spPr>
        <p:txBody>
          <a:bodyPr wrap="square" lIns="0" tIns="0" rIns="0" bIns="0" rtlCol="0" anchor="ctr"/>
          <a:lstStyle/>
          <a:p>
            <a:pPr algn="ctr" indent="0" marL="0">
              <a:buNone/>
            </a:pPr>
            <a:r>
              <a:rPr lang="en-US" sz="4000" b="1" dirty="0">
                <a:solidFill>
                  <a:srgbClr val="0F7B6C"/>
                </a:solidFill>
                <a:latin typeface="Cambria" pitchFamily="34" charset="0"/>
                <a:ea typeface="Cambria" pitchFamily="34" charset="-122"/>
                <a:cs typeface="Cambria" pitchFamily="34" charset="-120"/>
              </a:rPr>
              <a:t>93.5%</a:t>
            </a:r>
            <a:endParaRPr lang="en-US" sz="4000" dirty="0"/>
          </a:p>
        </p:txBody>
      </p:sp>
      <p:sp>
        <p:nvSpPr>
          <p:cNvPr id="30" name="Text 28"/>
          <p:cNvSpPr txBox="1"/>
          <p:nvPr/>
        </p:nvSpPr>
        <p:spPr>
          <a:xfrm>
            <a:off x="6675120" y="4562856"/>
            <a:ext cx="2377440" cy="457200"/>
          </a:xfrm>
          <a:prstGeom prst="rect">
            <a:avLst/>
          </a:prstGeom>
          <a:noFill/>
          <a:ln/>
        </p:spPr>
        <p:txBody>
          <a:bodyPr wrap="square" lIns="0" tIns="0" rIns="0" bIns="0" rtlCol="0" anchor="ctr"/>
          <a:lstStyle/>
          <a:p>
            <a:pPr algn="ctr" indent="0" marL="0">
              <a:buNone/>
            </a:pPr>
            <a:r>
              <a:rPr lang="en-US" sz="1250" dirty="0">
                <a:solidFill>
                  <a:srgbClr val="5A6472"/>
                </a:solidFill>
                <a:latin typeface="Calibri" pitchFamily="34" charset="0"/>
                <a:ea typeface="Calibri" pitchFamily="34" charset="-122"/>
                <a:cs typeface="Calibri" pitchFamily="34" charset="-120"/>
              </a:rPr>
              <a:t>of profiles fully corrected</a:t>
            </a:r>
            <a:endParaRPr lang="en-US" sz="1250" dirty="0"/>
          </a:p>
          <a:p>
            <a:pPr algn="ctr" indent="0" marL="0">
              <a:buNone/>
            </a:pPr>
            <a:r>
              <a:rPr lang="en-US" sz="1250" dirty="0">
                <a:solidFill>
                  <a:srgbClr val="5A6472"/>
                </a:solidFill>
                <a:latin typeface="Calibri" pitchFamily="34" charset="0"/>
                <a:ea typeface="Calibri" pitchFamily="34" charset="-122"/>
                <a:cs typeface="Calibri" pitchFamily="34" charset="-120"/>
              </a:rPr>
              <a:t>(clean data, 500 k model)</a:t>
            </a:r>
            <a:endParaRPr lang="en-US" sz="1250" dirty="0"/>
          </a:p>
        </p:txBody>
      </p:sp>
      <p:sp>
        <p:nvSpPr>
          <p:cNvPr id="31" name="Text 29"/>
          <p:cNvSpPr txBox="1"/>
          <p:nvPr/>
        </p:nvSpPr>
        <p:spPr>
          <a:xfrm>
            <a:off x="9235440" y="3886200"/>
            <a:ext cx="2377440" cy="658368"/>
          </a:xfrm>
          <a:prstGeom prst="rect">
            <a:avLst/>
          </a:prstGeom>
          <a:noFill/>
          <a:ln/>
        </p:spPr>
        <p:txBody>
          <a:bodyPr wrap="square" lIns="0" tIns="0" rIns="0" bIns="0" rtlCol="0" anchor="ctr"/>
          <a:lstStyle/>
          <a:p>
            <a:pPr algn="ctr" indent="0" marL="0">
              <a:buNone/>
            </a:pPr>
            <a:r>
              <a:rPr lang="en-US" sz="4000" b="1" dirty="0">
                <a:solidFill>
                  <a:srgbClr val="1C7293"/>
                </a:solidFill>
                <a:latin typeface="Cambria" pitchFamily="34" charset="0"/>
                <a:ea typeface="Cambria" pitchFamily="34" charset="-122"/>
                <a:cs typeface="Cambria" pitchFamily="34" charset="-120"/>
              </a:rPr>
              <a:t>100×</a:t>
            </a:r>
            <a:endParaRPr lang="en-US" sz="4000" dirty="0"/>
          </a:p>
        </p:txBody>
      </p:sp>
      <p:sp>
        <p:nvSpPr>
          <p:cNvPr id="32" name="Text 30"/>
          <p:cNvSpPr txBox="1"/>
          <p:nvPr/>
        </p:nvSpPr>
        <p:spPr>
          <a:xfrm>
            <a:off x="9235440" y="4562856"/>
            <a:ext cx="2377440" cy="457200"/>
          </a:xfrm>
          <a:prstGeom prst="rect">
            <a:avLst/>
          </a:prstGeom>
          <a:noFill/>
          <a:ln/>
        </p:spPr>
        <p:txBody>
          <a:bodyPr wrap="square" lIns="0" tIns="0" rIns="0" bIns="0" rtlCol="0" anchor="ctr"/>
          <a:lstStyle/>
          <a:p>
            <a:pPr algn="ctr" indent="0" marL="0">
              <a:buNone/>
            </a:pPr>
            <a:r>
              <a:rPr lang="en-US" sz="1250" dirty="0">
                <a:solidFill>
                  <a:srgbClr val="5A6472"/>
                </a:solidFill>
                <a:latin typeface="Calibri" pitchFamily="34" charset="0"/>
                <a:ea typeface="Calibri" pitchFamily="34" charset="-122"/>
                <a:cs typeface="Calibri" pitchFamily="34" charset="-120"/>
              </a:rPr>
              <a:t>margin over the artefact</a:t>
            </a:r>
            <a:endParaRPr lang="en-US" sz="1250" dirty="0"/>
          </a:p>
          <a:p>
            <a:pPr algn="ctr" indent="0" marL="0">
              <a:buNone/>
            </a:pPr>
            <a:r>
              <a:rPr lang="en-US" sz="1250" dirty="0">
                <a:solidFill>
                  <a:srgbClr val="5A6472"/>
                </a:solidFill>
                <a:latin typeface="Calibri" pitchFamily="34" charset="0"/>
                <a:ea typeface="Calibri" pitchFamily="34" charset="-122"/>
                <a:cs typeface="Calibri" pitchFamily="34" charset="-120"/>
              </a:rPr>
              <a:t>being removed</a:t>
            </a:r>
            <a:endParaRPr lang="en-US" sz="1250" dirty="0"/>
          </a:p>
        </p:txBody>
      </p:sp>
      <p:sp>
        <p:nvSpPr>
          <p:cNvPr id="33" name="Text 31"/>
          <p:cNvSpPr txBox="1"/>
          <p:nvPr/>
        </p:nvSpPr>
        <p:spPr>
          <a:xfrm>
            <a:off x="548640" y="5870448"/>
            <a:ext cx="11064240" cy="457200"/>
          </a:xfrm>
          <a:prstGeom prst="rect">
            <a:avLst/>
          </a:prstGeom>
          <a:noFill/>
          <a:ln/>
        </p:spPr>
        <p:txBody>
          <a:bodyPr wrap="square" lIns="0" tIns="0" rIns="0" bIns="0" rtlCol="0" anchor="ctr"/>
          <a:lstStyle/>
          <a:p>
            <a:pPr indent="0" marL="0">
              <a:buNone/>
            </a:pPr>
            <a:r>
              <a:rPr lang="en-US" sz="1150" i="1" dirty="0">
                <a:solidFill>
                  <a:srgbClr val="5A6472"/>
                </a:solidFill>
                <a:latin typeface="Calibri" pitchFamily="34" charset="0"/>
                <a:ea typeface="Calibri" pitchFamily="34" charset="-122"/>
                <a:cs typeface="Calibri" pitchFamily="34" charset="-120"/>
              </a:rPr>
              <a:t>Confirmed at 500 k (completed overnight): the convolutional network still wins, and by a wider margin — its typical error is 2× lower than either Transformer variant.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11094415" cy="56692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Adding realistic noise changed the picture</a:t>
            </a:r>
            <a:endParaRPr lang="en-US" sz="3200" dirty="0"/>
          </a:p>
        </p:txBody>
      </p:sp>
      <p:sp>
        <p:nvSpPr>
          <p:cNvPr id="3" name="Text 1"/>
          <p:cNvSpPr txBox="1"/>
          <p:nvPr/>
        </p:nvSpPr>
        <p:spPr>
          <a:xfrm>
            <a:off x="548640" y="969264"/>
            <a:ext cx="11094415" cy="329184"/>
          </a:xfrm>
          <a:prstGeom prst="rect">
            <a:avLst/>
          </a:prstGeom>
          <a:noFill/>
          <a:ln/>
        </p:spPr>
        <p:txBody>
          <a:bodyPr wrap="square" lIns="0" tIns="0" rIns="0" bIns="0" rtlCol="0" anchor="ctr"/>
          <a:lstStyle/>
          <a:p>
            <a:pPr indent="0" marL="0">
              <a:buNone/>
            </a:pPr>
            <a:r>
              <a:rPr lang="en-US" sz="1500" dirty="0">
                <a:solidFill>
                  <a:srgbClr val="5A6472"/>
                </a:solidFill>
                <a:latin typeface="Calibri" pitchFamily="34" charset="0"/>
                <a:ea typeface="Calibri" pitchFamily="34" charset="-122"/>
                <a:cs typeface="Calibri" pitchFamily="34" charset="-120"/>
              </a:rPr>
              <a:t>Noise in CPMG is Gaussian in intensity, not in R₂ᵉᶠᶠ. Because R₂ᵉᶠᶠ = −ln(I/I₀)/T, fast-relaxing points are far noisier — the interesting ones most of all.</a:t>
            </a:r>
            <a:endParaRPr lang="en-US" sz="1500" dirty="0"/>
          </a:p>
        </p:txBody>
      </p:sp>
      <p:pic>
        <p:nvPicPr>
          <p:cNvPr id="4" name="Image 0" descr="/Users/shankararamasharma/Desktop/IISc/CPMG Project/docs/group_meeting_figs/gm_noise_scaling.png">    </p:cNvPr>
          <p:cNvPicPr>
            <a:picLocks noChangeAspect="1"/>
          </p:cNvPicPr>
          <p:nvPr/>
        </p:nvPicPr>
        <p:blipFill>
          <a:blip r:embed="rId1"/>
          <a:stretch>
            <a:fillRect/>
          </a:stretch>
        </p:blipFill>
        <p:spPr>
          <a:xfrm>
            <a:off x="548640" y="1627632"/>
            <a:ext cx="11064240" cy="3254188"/>
          </a:xfrm>
          <a:prstGeom prst="rect">
            <a:avLst/>
          </a:prstGeom>
        </p:spPr>
      </p:pic>
      <p:sp>
        <p:nvSpPr>
          <p:cNvPr id="5" name="Shape 2"/>
          <p:cNvSpPr/>
          <p:nvPr/>
        </p:nvSpPr>
        <p:spPr>
          <a:xfrm>
            <a:off x="548640" y="5029200"/>
            <a:ext cx="3520440" cy="1280160"/>
          </a:xfrm>
          <a:prstGeom prst="roundRect">
            <a:avLst>
              <a:gd name="adj" fmla="val 4286"/>
            </a:avLst>
          </a:prstGeom>
          <a:solidFill>
            <a:srgbClr val="FBEDE9"/>
          </a:solidFill>
          <a:ln w="12700">
            <a:solidFill>
              <a:srgbClr val="FBEDE9"/>
            </a:solidFill>
            <a:prstDash val="solid"/>
          </a:ln>
        </p:spPr>
      </p:sp>
      <p:sp>
        <p:nvSpPr>
          <p:cNvPr id="6" name="Text 3"/>
          <p:cNvSpPr txBox="1"/>
          <p:nvPr/>
        </p:nvSpPr>
        <p:spPr>
          <a:xfrm>
            <a:off x="749808" y="5157216"/>
            <a:ext cx="3108960" cy="1051560"/>
          </a:xfrm>
          <a:prstGeom prst="rect">
            <a:avLst/>
          </a:prstGeom>
          <a:noFill/>
          <a:ln/>
        </p:spPr>
        <p:txBody>
          <a:bodyPr wrap="square" lIns="0" tIns="0" rIns="0" bIns="0" rtlCol="0" anchor="ctr"/>
          <a:lstStyle/>
          <a:p>
            <a:pPr indent="0" marL="0">
              <a:lnSpc>
                <a:spcPts val="1400"/>
              </a:lnSpc>
              <a:buNone/>
            </a:pPr>
            <a:r>
              <a:rPr lang="en-US" sz="1400" b="1" dirty="0">
                <a:solidFill>
                  <a:srgbClr val="C1440E"/>
                </a:solidFill>
                <a:latin typeface="Calibri" pitchFamily="34" charset="0"/>
                <a:ea typeface="Calibri" pitchFamily="34" charset="-122"/>
                <a:cs typeface="Calibri" pitchFamily="34" charset="-120"/>
              </a:rPr>
              <a:t>A metric trap
</a:t>
            </a:r>
            <a:pPr indent="0" marL="0">
              <a:lnSpc>
                <a:spcPts val="1400"/>
              </a:lnSpc>
              <a:buNone/>
            </a:pPr>
            <a:r>
              <a:rPr lang="en-US" sz="1150" dirty="0">
                <a:solidFill>
                  <a:srgbClr val="1A1A1A"/>
                </a:solidFill>
                <a:latin typeface="Calibri" pitchFamily="34" charset="0"/>
                <a:ea typeface="Calibri" pitchFamily="34" charset="-122"/>
                <a:cs typeface="Calibri" pitchFamily="34" charset="-120"/>
              </a:rPr>
              <a:t>“% artefact removed” stays at 85% from SNR 1000 to SNR 100 — the models score well by denoising, which is not the task.</a:t>
            </a:r>
            <a:endParaRPr lang="en-US" sz="1400" dirty="0"/>
          </a:p>
        </p:txBody>
      </p:sp>
      <p:sp>
        <p:nvSpPr>
          <p:cNvPr id="7" name="Shape 4"/>
          <p:cNvSpPr/>
          <p:nvPr/>
        </p:nvSpPr>
        <p:spPr>
          <a:xfrm>
            <a:off x="4315968" y="5029200"/>
            <a:ext cx="3520440" cy="1280160"/>
          </a:xfrm>
          <a:prstGeom prst="roundRect">
            <a:avLst>
              <a:gd name="adj" fmla="val 4286"/>
            </a:avLst>
          </a:prstGeom>
          <a:solidFill>
            <a:srgbClr val="EEF2F6"/>
          </a:solidFill>
          <a:ln w="12700">
            <a:solidFill>
              <a:srgbClr val="EEF2F6"/>
            </a:solidFill>
            <a:prstDash val="solid"/>
          </a:ln>
        </p:spPr>
      </p:sp>
      <p:sp>
        <p:nvSpPr>
          <p:cNvPr id="8" name="Text 5"/>
          <p:cNvSpPr txBox="1"/>
          <p:nvPr/>
        </p:nvSpPr>
        <p:spPr>
          <a:xfrm>
            <a:off x="4517136" y="5157216"/>
            <a:ext cx="3108960" cy="1051560"/>
          </a:xfrm>
          <a:prstGeom prst="rect">
            <a:avLst/>
          </a:prstGeom>
          <a:noFill/>
          <a:ln/>
        </p:spPr>
        <p:txBody>
          <a:bodyPr wrap="square" lIns="0" tIns="0" rIns="0" bIns="0" rtlCol="0" anchor="ctr"/>
          <a:lstStyle/>
          <a:p>
            <a:pPr indent="0" marL="0">
              <a:lnSpc>
                <a:spcPts val="1400"/>
              </a:lnSpc>
              <a:buNone/>
            </a:pPr>
            <a:r>
              <a:rPr lang="en-US" sz="1400" b="1" dirty="0">
                <a:solidFill>
                  <a:srgbClr val="21295C"/>
                </a:solidFill>
                <a:latin typeface="Calibri" pitchFamily="34" charset="0"/>
                <a:ea typeface="Calibri" pitchFamily="34" charset="-122"/>
                <a:cs typeface="Calibri" pitchFamily="34" charset="-120"/>
              </a:rPr>
              <a:t>Sub-linear degradation
</a:t>
            </a:r>
            <a:pPr indent="0" marL="0">
              <a:lnSpc>
                <a:spcPts val="1400"/>
              </a:lnSpc>
              <a:buNone/>
            </a:pPr>
            <a:r>
              <a:rPr lang="en-US" sz="1150" dirty="0">
                <a:solidFill>
                  <a:srgbClr val="1A1A1A"/>
                </a:solidFill>
                <a:latin typeface="Calibri" pitchFamily="34" charset="0"/>
                <a:ea typeface="Calibri" pitchFamily="34" charset="-122"/>
                <a:cs typeface="Calibri" pitchFamily="34" charset="-120"/>
              </a:rPr>
              <a:t>Error grows as σ⁰·⁵⁸, not σ. The model exploits the artefact being smooth across ν while noise is independent.</a:t>
            </a:r>
            <a:endParaRPr lang="en-US" sz="1400" dirty="0"/>
          </a:p>
        </p:txBody>
      </p:sp>
      <p:sp>
        <p:nvSpPr>
          <p:cNvPr id="9" name="Shape 6"/>
          <p:cNvSpPr/>
          <p:nvPr/>
        </p:nvSpPr>
        <p:spPr>
          <a:xfrm>
            <a:off x="8092440" y="5029200"/>
            <a:ext cx="3538728" cy="1280160"/>
          </a:xfrm>
          <a:prstGeom prst="roundRect">
            <a:avLst>
              <a:gd name="adj" fmla="val 4286"/>
            </a:avLst>
          </a:prstGeom>
          <a:solidFill>
            <a:srgbClr val="EEF2F6"/>
          </a:solidFill>
          <a:ln w="12700">
            <a:solidFill>
              <a:srgbClr val="EEF2F6"/>
            </a:solidFill>
            <a:prstDash val="solid"/>
          </a:ln>
        </p:spPr>
      </p:sp>
      <p:sp>
        <p:nvSpPr>
          <p:cNvPr id="10" name="Text 7"/>
          <p:cNvSpPr txBox="1"/>
          <p:nvPr/>
        </p:nvSpPr>
        <p:spPr>
          <a:xfrm>
            <a:off x="8293608" y="5157216"/>
            <a:ext cx="3127248" cy="1051560"/>
          </a:xfrm>
          <a:prstGeom prst="rect">
            <a:avLst/>
          </a:prstGeom>
          <a:noFill/>
          <a:ln/>
        </p:spPr>
        <p:txBody>
          <a:bodyPr wrap="square" lIns="0" tIns="0" rIns="0" bIns="0" rtlCol="0" anchor="ctr"/>
          <a:lstStyle/>
          <a:p>
            <a:pPr indent="0" marL="0">
              <a:lnSpc>
                <a:spcPts val="1400"/>
              </a:lnSpc>
              <a:buNone/>
            </a:pPr>
            <a:r>
              <a:rPr lang="en-US" sz="1400" b="1" dirty="0">
                <a:solidFill>
                  <a:srgbClr val="1C7293"/>
                </a:solidFill>
                <a:latin typeface="Calibri" pitchFamily="34" charset="0"/>
                <a:ea typeface="Calibri" pitchFamily="34" charset="-122"/>
                <a:cs typeface="Calibri" pitchFamily="34" charset="-120"/>
              </a:rPr>
              <a:t>Two different walls
</a:t>
            </a:r>
            <a:pPr indent="0" marL="0">
              <a:lnSpc>
                <a:spcPts val="1400"/>
              </a:lnSpc>
              <a:buNone/>
            </a:pPr>
            <a:r>
              <a:rPr lang="en-US" sz="1150" dirty="0">
                <a:solidFill>
                  <a:srgbClr val="1A1A1A"/>
                </a:solidFill>
                <a:latin typeface="Calibri" pitchFamily="34" charset="0"/>
                <a:ea typeface="Calibri" pitchFamily="34" charset="-122"/>
                <a:cs typeface="Calibri" pitchFamily="34" charset="-120"/>
              </a:rPr>
              <a:t>Clean performance was data-limited. Low-SNR performance is noise-limited — more data buys only 9%.</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11094415" cy="566928"/>
          </a:xfrm>
          <a:prstGeom prst="rect">
            <a:avLst/>
          </a:prstGeom>
          <a:noFill/>
          <a:ln/>
        </p:spPr>
        <p:txBody>
          <a:bodyPr wrap="square" lIns="0" tIns="0" rIns="0" bIns="0" rtlCol="0" anchor="ctr"/>
          <a:lstStyle/>
          <a:p>
            <a:pPr indent="0" marL="0">
              <a:buNone/>
            </a:pPr>
            <a:r>
              <a:rPr lang="en-US" sz="3200" b="1" dirty="0">
                <a:solidFill>
                  <a:srgbClr val="21295C"/>
                </a:solidFill>
                <a:latin typeface="Cambria" pitchFamily="34" charset="0"/>
                <a:ea typeface="Cambria" pitchFamily="34" charset="-122"/>
                <a:cs typeface="Cambria" pitchFamily="34" charset="-120"/>
              </a:rPr>
              <a:t>Where it works: per-profile recoverability</a:t>
            </a:r>
            <a:endParaRPr lang="en-US" sz="3200" dirty="0"/>
          </a:p>
        </p:txBody>
      </p:sp>
      <p:sp>
        <p:nvSpPr>
          <p:cNvPr id="3" name="Text 1"/>
          <p:cNvSpPr txBox="1"/>
          <p:nvPr/>
        </p:nvSpPr>
        <p:spPr>
          <a:xfrm>
            <a:off x="548640" y="969264"/>
            <a:ext cx="11094415" cy="329184"/>
          </a:xfrm>
          <a:prstGeom prst="rect">
            <a:avLst/>
          </a:prstGeom>
          <a:noFill/>
          <a:ln/>
        </p:spPr>
        <p:txBody>
          <a:bodyPr wrap="square" lIns="0" tIns="0" rIns="0" bIns="0" rtlCol="0" anchor="ctr"/>
          <a:lstStyle/>
          <a:p>
            <a:pPr indent="0" marL="0">
              <a:buNone/>
            </a:pPr>
            <a:r>
              <a:rPr lang="en-US" sz="1500" dirty="0">
                <a:solidFill>
                  <a:srgbClr val="5A6472"/>
                </a:solidFill>
                <a:latin typeface="Calibri" pitchFamily="34" charset="0"/>
                <a:ea typeface="Calibri" pitchFamily="34" charset="-122"/>
                <a:cs typeface="Calibri" pitchFamily="34" charset="-120"/>
              </a:rPr>
              <a:t>A profile counts as recovered only if ≥75% of its own artefact is removed — a stricter, per-profile test than any median-based number.</a:t>
            </a:r>
            <a:endParaRPr lang="en-US" sz="1500" dirty="0"/>
          </a:p>
        </p:txBody>
      </p:sp>
      <p:pic>
        <p:nvPicPr>
          <p:cNvPr id="4" name="Image 0" descr="/Users/shankararamasharma/Desktop/IISc/CPMG Project/docs/group_meeting_figs/gm_recoverability.png">    </p:cNvPr>
          <p:cNvPicPr>
            <a:picLocks noChangeAspect="1"/>
          </p:cNvPicPr>
          <p:nvPr/>
        </p:nvPicPr>
        <p:blipFill>
          <a:blip r:embed="rId1"/>
          <a:stretch>
            <a:fillRect/>
          </a:stretch>
        </p:blipFill>
        <p:spPr>
          <a:xfrm>
            <a:off x="548640" y="1572768"/>
            <a:ext cx="7589520" cy="4438316"/>
          </a:xfrm>
          <a:prstGeom prst="rect">
            <a:avLst/>
          </a:prstGeom>
        </p:spPr>
      </p:pic>
      <p:sp>
        <p:nvSpPr>
          <p:cNvPr id="5" name="Shape 2"/>
          <p:cNvSpPr/>
          <p:nvPr/>
        </p:nvSpPr>
        <p:spPr>
          <a:xfrm>
            <a:off x="8412480" y="1572768"/>
            <a:ext cx="3246120" cy="1170432"/>
          </a:xfrm>
          <a:prstGeom prst="roundRect">
            <a:avLst>
              <a:gd name="adj" fmla="val 4688"/>
            </a:avLst>
          </a:prstGeom>
          <a:solidFill>
            <a:srgbClr val="E8F1EC"/>
          </a:solidFill>
          <a:ln w="12700">
            <a:solidFill>
              <a:srgbClr val="E8F1EC"/>
            </a:solidFill>
            <a:prstDash val="solid"/>
          </a:ln>
        </p:spPr>
      </p:sp>
      <p:sp>
        <p:nvSpPr>
          <p:cNvPr id="6" name="Text 3"/>
          <p:cNvSpPr txBox="1"/>
          <p:nvPr/>
        </p:nvSpPr>
        <p:spPr>
          <a:xfrm>
            <a:off x="8613648" y="1700784"/>
            <a:ext cx="2834640" cy="960120"/>
          </a:xfrm>
          <a:prstGeom prst="rect">
            <a:avLst/>
          </a:prstGeom>
          <a:noFill/>
          <a:ln/>
        </p:spPr>
        <p:txBody>
          <a:bodyPr wrap="square" lIns="0" tIns="0" rIns="0" bIns="0" rtlCol="0" anchor="ctr"/>
          <a:lstStyle/>
          <a:p>
            <a:pPr indent="0" marL="0">
              <a:lnSpc>
                <a:spcPts val="1500"/>
              </a:lnSpc>
              <a:buNone/>
            </a:pPr>
            <a:r>
              <a:rPr lang="en-US" sz="3000" b="1" dirty="0">
                <a:solidFill>
                  <a:srgbClr val="0F7B6C"/>
                </a:solidFill>
                <a:latin typeface="Cambria" pitchFamily="34" charset="0"/>
                <a:ea typeface="Cambria" pitchFamily="34" charset="-122"/>
                <a:cs typeface="Cambria" pitchFamily="34" charset="-120"/>
              </a:rPr>
              <a:t>93.5%
</a:t>
            </a:r>
            <a:pPr indent="0" marL="0">
              <a:lnSpc>
                <a:spcPts val="1500"/>
              </a:lnSpc>
              <a:buNone/>
            </a:pPr>
            <a:r>
              <a:rPr lang="en-US" sz="1200" dirty="0">
                <a:solidFill>
                  <a:srgbClr val="1A1A1A"/>
                </a:solidFill>
                <a:latin typeface="Calibri" pitchFamily="34" charset="0"/>
                <a:ea typeface="Calibri" pitchFamily="34" charset="-122"/>
                <a:cs typeface="Calibri" pitchFamily="34" charset="-120"/>
              </a:rPr>
              <a:t>recovered with no noise — the method's own ceiling</a:t>
            </a:r>
            <a:endParaRPr lang="en-US" sz="3000" dirty="0"/>
          </a:p>
        </p:txBody>
      </p:sp>
      <p:sp>
        <p:nvSpPr>
          <p:cNvPr id="7" name="Shape 4"/>
          <p:cNvSpPr/>
          <p:nvPr/>
        </p:nvSpPr>
        <p:spPr>
          <a:xfrm>
            <a:off x="8412480" y="2889504"/>
            <a:ext cx="3246120" cy="1170432"/>
          </a:xfrm>
          <a:prstGeom prst="roundRect">
            <a:avLst>
              <a:gd name="adj" fmla="val 4688"/>
            </a:avLst>
          </a:prstGeom>
          <a:solidFill>
            <a:srgbClr val="FBEDE9"/>
          </a:solidFill>
          <a:ln w="12700">
            <a:solidFill>
              <a:srgbClr val="FBEDE9"/>
            </a:solidFill>
            <a:prstDash val="solid"/>
          </a:ln>
        </p:spPr>
      </p:sp>
      <p:sp>
        <p:nvSpPr>
          <p:cNvPr id="8" name="Text 5"/>
          <p:cNvSpPr txBox="1"/>
          <p:nvPr/>
        </p:nvSpPr>
        <p:spPr>
          <a:xfrm>
            <a:off x="8613648" y="3017520"/>
            <a:ext cx="2834640" cy="960120"/>
          </a:xfrm>
          <a:prstGeom prst="rect">
            <a:avLst/>
          </a:prstGeom>
          <a:noFill/>
          <a:ln/>
        </p:spPr>
        <p:txBody>
          <a:bodyPr wrap="square" lIns="0" tIns="0" rIns="0" bIns="0" rtlCol="0" anchor="ctr"/>
          <a:lstStyle/>
          <a:p>
            <a:pPr indent="0" marL="0">
              <a:lnSpc>
                <a:spcPts val="1500"/>
              </a:lnSpc>
              <a:buNone/>
            </a:pPr>
            <a:r>
              <a:rPr lang="en-US" sz="3000" b="1" dirty="0">
                <a:solidFill>
                  <a:srgbClr val="C1440E"/>
                </a:solidFill>
                <a:latin typeface="Cambria" pitchFamily="34" charset="0"/>
                <a:ea typeface="Cambria" pitchFamily="34" charset="-122"/>
                <a:cs typeface="Cambria" pitchFamily="34" charset="-120"/>
              </a:rPr>
              <a:t>26.3%
</a:t>
            </a:r>
            <a:pPr indent="0" marL="0">
              <a:lnSpc>
                <a:spcPts val="1500"/>
              </a:lnSpc>
              <a:buNone/>
            </a:pPr>
            <a:r>
              <a:rPr lang="en-US" sz="1200" dirty="0">
                <a:solidFill>
                  <a:srgbClr val="1A1A1A"/>
                </a:solidFill>
                <a:latin typeface="Calibri" pitchFamily="34" charset="0"/>
                <a:ea typeface="Calibri" pitchFamily="34" charset="-122"/>
                <a:cs typeface="Calibri" pitchFamily="34" charset="-120"/>
              </a:rPr>
              <a:t>have an artefact visible above noise at SNR 100 — a hard physics ceiling</a:t>
            </a:r>
            <a:endParaRPr lang="en-US" sz="3000" dirty="0"/>
          </a:p>
        </p:txBody>
      </p:sp>
      <p:sp>
        <p:nvSpPr>
          <p:cNvPr id="9" name="Shape 6"/>
          <p:cNvSpPr/>
          <p:nvPr/>
        </p:nvSpPr>
        <p:spPr>
          <a:xfrm>
            <a:off x="8412480" y="4206240"/>
            <a:ext cx="3246120" cy="1170432"/>
          </a:xfrm>
          <a:prstGeom prst="roundRect">
            <a:avLst>
              <a:gd name="adj" fmla="val 4688"/>
            </a:avLst>
          </a:prstGeom>
          <a:solidFill>
            <a:srgbClr val="F4F6F8"/>
          </a:solidFill>
          <a:ln w="12700">
            <a:solidFill>
              <a:srgbClr val="F4F6F8"/>
            </a:solidFill>
            <a:prstDash val="solid"/>
          </a:ln>
        </p:spPr>
      </p:sp>
      <p:sp>
        <p:nvSpPr>
          <p:cNvPr id="10" name="Text 7"/>
          <p:cNvSpPr txBox="1"/>
          <p:nvPr/>
        </p:nvSpPr>
        <p:spPr>
          <a:xfrm>
            <a:off x="8613648" y="4334256"/>
            <a:ext cx="2834640" cy="960120"/>
          </a:xfrm>
          <a:prstGeom prst="rect">
            <a:avLst/>
          </a:prstGeom>
          <a:noFill/>
          <a:ln/>
        </p:spPr>
        <p:txBody>
          <a:bodyPr wrap="square" lIns="0" tIns="0" rIns="0" bIns="0" rtlCol="0" anchor="ctr"/>
          <a:lstStyle/>
          <a:p>
            <a:pPr indent="0" marL="0">
              <a:lnSpc>
                <a:spcPts val="1500"/>
              </a:lnSpc>
              <a:buNone/>
            </a:pPr>
            <a:r>
              <a:rPr lang="en-US" sz="3000" b="1" dirty="0">
                <a:solidFill>
                  <a:srgbClr val="21295C"/>
                </a:solidFill>
                <a:latin typeface="Cambria" pitchFamily="34" charset="0"/>
                <a:ea typeface="Cambria" pitchFamily="34" charset="-122"/>
                <a:cs typeface="Cambria" pitchFamily="34" charset="-120"/>
              </a:rPr>
              <a:t>16.0%
</a:t>
            </a:r>
            <a:pPr indent="0" marL="0">
              <a:lnSpc>
                <a:spcPts val="1500"/>
              </a:lnSpc>
              <a:buNone/>
            </a:pPr>
            <a:r>
              <a:rPr lang="en-US" sz="1200" dirty="0">
                <a:solidFill>
                  <a:srgbClr val="1A1A1A"/>
                </a:solidFill>
                <a:latin typeface="Calibri" pitchFamily="34" charset="0"/>
                <a:ea typeface="Calibri" pitchFamily="34" charset="-122"/>
                <a:cs typeface="Calibri" pitchFamily="34" charset="-120"/>
              </a:rPr>
              <a:t>actually recovered at SNR 100 — 61% of what is available</a:t>
            </a:r>
            <a:endParaRPr lang="en-US" sz="3000" dirty="0"/>
          </a:p>
        </p:txBody>
      </p:sp>
      <p:sp>
        <p:nvSpPr>
          <p:cNvPr id="11" name="Text 8"/>
          <p:cNvSpPr txBox="1"/>
          <p:nvPr/>
        </p:nvSpPr>
        <p:spPr>
          <a:xfrm>
            <a:off x="8412480" y="5504688"/>
            <a:ext cx="3246120" cy="731520"/>
          </a:xfrm>
          <a:prstGeom prst="rect">
            <a:avLst/>
          </a:prstGeom>
          <a:noFill/>
          <a:ln/>
        </p:spPr>
        <p:txBody>
          <a:bodyPr wrap="square" lIns="0" tIns="0" rIns="0" bIns="0" rtlCol="0" anchor="ctr"/>
          <a:lstStyle/>
          <a:p>
            <a:pPr indent="0" marL="0">
              <a:buNone/>
            </a:pPr>
            <a:r>
              <a:rPr lang="en-US" sz="1150" i="1" dirty="0">
                <a:solidFill>
                  <a:srgbClr val="5A6472"/>
                </a:solidFill>
                <a:latin typeface="Calibri" pitchFamily="34" charset="0"/>
                <a:ea typeface="Calibri" pitchFamily="34" charset="-122"/>
                <a:cs typeface="Calibri" pitchFamily="34" charset="-120"/>
              </a:rPr>
              <a:t>Median artefact 0.675 s⁻¹ vs median noise 1.589 s⁻¹ at SNR 100 — the signal sits 2.4× below the noise.</a:t>
            </a:r>
            <a:endParaRPr lang="en-US" sz="1150" dirty="0"/>
          </a:p>
        </p:txBody>
      </p:sp>
      <p:sp>
        <p:nvSpPr>
          <p:cNvPr id="12" name="Text 9"/>
          <p:cNvSpPr txBox="1"/>
          <p:nvPr/>
        </p:nvSpPr>
        <p:spPr>
          <a:xfrm>
            <a:off x="548640" y="6053328"/>
            <a:ext cx="7589520" cy="457200"/>
          </a:xfrm>
          <a:prstGeom prst="rect">
            <a:avLst/>
          </a:prstGeom>
          <a:noFill/>
          <a:ln/>
        </p:spPr>
        <p:txBody>
          <a:bodyPr wrap="square" lIns="0" tIns="0" rIns="0" bIns="0" rtlCol="0" anchor="ctr"/>
          <a:lstStyle/>
          <a:p>
            <a:pPr indent="0" marL="0">
              <a:buNone/>
            </a:pPr>
            <a:r>
              <a:rPr lang="en-US" sz="1150" i="1" dirty="0">
                <a:solidFill>
                  <a:srgbClr val="5A6472"/>
                </a:solidFill>
                <a:latin typeface="Calibri" pitchFamily="34" charset="0"/>
                <a:ea typeface="Calibri" pitchFamily="34" charset="-122"/>
                <a:cs typeface="Calibri" pitchFamily="34" charset="-120"/>
              </a:rPr>
              <a:t>Clean (top row): near-uniform, failing only at high k_ex with large p_B or Δω.   At SNR 100 (bottom): structure erased; what survives is the low-k_ex, low-p_B corner.</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685800" y="457200"/>
            <a:ext cx="54864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Where it stands</a:t>
            </a:r>
            <a:endParaRPr lang="en-US" sz="3400" dirty="0"/>
          </a:p>
        </p:txBody>
      </p:sp>
      <p:sp>
        <p:nvSpPr>
          <p:cNvPr id="3" name="Text 1"/>
          <p:cNvSpPr txBox="1"/>
          <p:nvPr/>
        </p:nvSpPr>
        <p:spPr>
          <a:xfrm>
            <a:off x="685800" y="1097280"/>
            <a:ext cx="7315200" cy="41148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The method works. The measurement does not yet.</a:t>
            </a:r>
            <a:endParaRPr lang="en-US" sz="1700" dirty="0"/>
          </a:p>
        </p:txBody>
      </p:sp>
      <p:sp>
        <p:nvSpPr>
          <p:cNvPr id="4" name="Shape 2"/>
          <p:cNvSpPr/>
          <p:nvPr/>
        </p:nvSpPr>
        <p:spPr>
          <a:xfrm>
            <a:off x="685800" y="1883664"/>
            <a:ext cx="310896" cy="310896"/>
          </a:xfrm>
          <a:prstGeom prst="ellipse">
            <a:avLst/>
          </a:prstGeom>
          <a:solidFill>
            <a:srgbClr val="0F7B6C"/>
          </a:solidFill>
          <a:ln w="12700">
            <a:solidFill>
              <a:srgbClr val="0F7B6C"/>
            </a:solidFill>
            <a:prstDash val="solid"/>
          </a:ln>
        </p:spPr>
      </p:sp>
      <p:sp>
        <p:nvSpPr>
          <p:cNvPr id="5" name="Text 3"/>
          <p:cNvSpPr txBox="1"/>
          <p:nvPr/>
        </p:nvSpPr>
        <p:spPr>
          <a:xfrm>
            <a:off x="1170432" y="1828800"/>
            <a:ext cx="2103120" cy="329184"/>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Simulator</a:t>
            </a:r>
            <a:endParaRPr lang="en-US" sz="1450" dirty="0"/>
          </a:p>
        </p:txBody>
      </p:sp>
      <p:sp>
        <p:nvSpPr>
          <p:cNvPr id="6" name="Text 4"/>
          <p:cNvSpPr txBox="1"/>
          <p:nvPr/>
        </p:nvSpPr>
        <p:spPr>
          <a:xfrm>
            <a:off x="3246120" y="1828800"/>
            <a:ext cx="8229600" cy="566928"/>
          </a:xfrm>
          <a:prstGeom prst="rect">
            <a:avLst/>
          </a:prstGeom>
          <a:noFill/>
          <a:ln/>
        </p:spPr>
        <p:txBody>
          <a:bodyPr wrap="square" lIns="0" tIns="0" rIns="0" bIns="0" rtlCol="0" anchor="ctr"/>
          <a:lstStyle/>
          <a:p>
            <a:pPr indent="0" marL="0">
              <a:buNone/>
            </a:pPr>
            <a:r>
              <a:rPr lang="en-US" sz="1300" dirty="0">
                <a:solidFill>
                  <a:srgbClr val="B9C6D6"/>
                </a:solidFill>
                <a:latin typeface="Calibri" pitchFamily="34" charset="0"/>
                <a:ea typeface="Calibri" pitchFamily="34" charset="-122"/>
                <a:cs typeface="Calibri" pitchFamily="34" charset="-120"/>
              </a:rPr>
              <a:t>Validated against ChemEx at 30×30; two Allard-conversion bugs found and fixed.</a:t>
            </a:r>
            <a:endParaRPr lang="en-US" sz="1300" dirty="0"/>
          </a:p>
        </p:txBody>
      </p:sp>
      <p:sp>
        <p:nvSpPr>
          <p:cNvPr id="7" name="Shape 5"/>
          <p:cNvSpPr/>
          <p:nvPr/>
        </p:nvSpPr>
        <p:spPr>
          <a:xfrm>
            <a:off x="685800" y="2816352"/>
            <a:ext cx="310896" cy="310896"/>
          </a:xfrm>
          <a:prstGeom prst="ellipse">
            <a:avLst/>
          </a:prstGeom>
          <a:solidFill>
            <a:srgbClr val="0F7B6C"/>
          </a:solidFill>
          <a:ln w="12700">
            <a:solidFill>
              <a:srgbClr val="0F7B6C"/>
            </a:solidFill>
            <a:prstDash val="solid"/>
          </a:ln>
        </p:spPr>
      </p:sp>
      <p:sp>
        <p:nvSpPr>
          <p:cNvPr id="8" name="Text 6"/>
          <p:cNvSpPr txBox="1"/>
          <p:nvPr/>
        </p:nvSpPr>
        <p:spPr>
          <a:xfrm>
            <a:off x="1170432" y="2761488"/>
            <a:ext cx="2103120" cy="329184"/>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Data + model</a:t>
            </a:r>
            <a:endParaRPr lang="en-US" sz="1450" dirty="0"/>
          </a:p>
        </p:txBody>
      </p:sp>
      <p:sp>
        <p:nvSpPr>
          <p:cNvPr id="9" name="Text 7"/>
          <p:cNvSpPr txBox="1"/>
          <p:nvPr/>
        </p:nvSpPr>
        <p:spPr>
          <a:xfrm>
            <a:off x="3246120" y="2761488"/>
            <a:ext cx="8229600" cy="566928"/>
          </a:xfrm>
          <a:prstGeom prst="rect">
            <a:avLst/>
          </a:prstGeom>
          <a:noFill/>
          <a:ln/>
        </p:spPr>
        <p:txBody>
          <a:bodyPr wrap="square" lIns="0" tIns="0" rIns="0" bIns="0" rtlCol="0" anchor="ctr"/>
          <a:lstStyle/>
          <a:p>
            <a:pPr indent="0" marL="0">
              <a:buNone/>
            </a:pPr>
            <a:r>
              <a:rPr lang="en-US" sz="1300" dirty="0">
                <a:solidFill>
                  <a:srgbClr val="B9C6D6"/>
                </a:solidFill>
                <a:latin typeface="Calibri" pitchFamily="34" charset="0"/>
                <a:ea typeface="Calibri" pitchFamily="34" charset="-122"/>
                <a:cs typeface="Calibri" pitchFamily="34" charset="-120"/>
              </a:rPr>
              <a:t>540 k paired profiles; 93.5% of profiles fully corrected on clean data.</a:t>
            </a:r>
            <a:endParaRPr lang="en-US" sz="1300" dirty="0"/>
          </a:p>
        </p:txBody>
      </p:sp>
      <p:sp>
        <p:nvSpPr>
          <p:cNvPr id="10" name="Shape 8"/>
          <p:cNvSpPr/>
          <p:nvPr/>
        </p:nvSpPr>
        <p:spPr>
          <a:xfrm>
            <a:off x="685800" y="3749040"/>
            <a:ext cx="310896" cy="310896"/>
          </a:xfrm>
          <a:prstGeom prst="ellipse">
            <a:avLst/>
          </a:prstGeom>
          <a:solidFill>
            <a:srgbClr val="C1440E"/>
          </a:solidFill>
          <a:ln w="12700">
            <a:solidFill>
              <a:srgbClr val="C1440E"/>
            </a:solidFill>
            <a:prstDash val="solid"/>
          </a:ln>
        </p:spPr>
      </p:sp>
      <p:sp>
        <p:nvSpPr>
          <p:cNvPr id="11" name="Text 9"/>
          <p:cNvSpPr txBox="1"/>
          <p:nvPr/>
        </p:nvSpPr>
        <p:spPr>
          <a:xfrm>
            <a:off x="1170432" y="3694176"/>
            <a:ext cx="2103120" cy="329184"/>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Noise limit</a:t>
            </a:r>
            <a:endParaRPr lang="en-US" sz="1450" dirty="0"/>
          </a:p>
        </p:txBody>
      </p:sp>
      <p:sp>
        <p:nvSpPr>
          <p:cNvPr id="12" name="Text 10"/>
          <p:cNvSpPr txBox="1"/>
          <p:nvPr/>
        </p:nvSpPr>
        <p:spPr>
          <a:xfrm>
            <a:off x="3246120" y="3694176"/>
            <a:ext cx="8229600" cy="566928"/>
          </a:xfrm>
          <a:prstGeom prst="rect">
            <a:avLst/>
          </a:prstGeom>
          <a:noFill/>
          <a:ln/>
        </p:spPr>
        <p:txBody>
          <a:bodyPr wrap="square" lIns="0" tIns="0" rIns="0" bIns="0" rtlCol="0" anchor="ctr"/>
          <a:lstStyle/>
          <a:p>
            <a:pPr indent="0" marL="0">
              <a:buNone/>
            </a:pPr>
            <a:r>
              <a:rPr lang="en-US" sz="1300" dirty="0">
                <a:solidFill>
                  <a:srgbClr val="B9C6D6"/>
                </a:solidFill>
                <a:latin typeface="Calibri" pitchFamily="34" charset="0"/>
                <a:ea typeface="Calibri" pitchFamily="34" charset="-122"/>
                <a:cs typeface="Calibri" pitchFamily="34" charset="-120"/>
              </a:rPr>
              <a:t>At SNR 100 only 26.3% of artefacts are above the noise; 16.0% recovered.</a:t>
            </a:r>
            <a:endParaRPr lang="en-US" sz="1300" dirty="0"/>
          </a:p>
        </p:txBody>
      </p:sp>
      <p:sp>
        <p:nvSpPr>
          <p:cNvPr id="13" name="Text 11"/>
          <p:cNvSpPr txBox="1"/>
          <p:nvPr/>
        </p:nvSpPr>
        <p:spPr>
          <a:xfrm>
            <a:off x="685800" y="4626864"/>
            <a:ext cx="3657600"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Next</a:t>
            </a:r>
            <a:endParaRPr lang="en-US" sz="2000" dirty="0"/>
          </a:p>
        </p:txBody>
      </p:sp>
      <p:sp>
        <p:nvSpPr>
          <p:cNvPr id="14" name="Text 12"/>
          <p:cNvSpPr txBox="1"/>
          <p:nvPr/>
        </p:nvSpPr>
        <p:spPr>
          <a:xfrm>
            <a:off x="685800" y="5065776"/>
            <a:ext cx="274320" cy="329184"/>
          </a:xfrm>
          <a:prstGeom prst="rect">
            <a:avLst/>
          </a:prstGeom>
          <a:noFill/>
          <a:ln/>
        </p:spPr>
        <p:txBody>
          <a:bodyPr wrap="square" lIns="0" tIns="0" rIns="0" bIns="0" rtlCol="0" anchor="ctr"/>
          <a:lstStyle/>
          <a:p>
            <a:pPr indent="0" marL="0">
              <a:buNone/>
            </a:pPr>
            <a:r>
              <a:rPr lang="en-US" sz="1400" b="1" dirty="0">
                <a:solidFill>
                  <a:srgbClr val="1C7293"/>
                </a:solidFill>
                <a:latin typeface="Cambria" pitchFamily="34" charset="0"/>
                <a:ea typeface="Cambria" pitchFamily="34" charset="-122"/>
                <a:cs typeface="Cambria" pitchFamily="34" charset="-120"/>
              </a:rPr>
              <a:t>1</a:t>
            </a:r>
            <a:endParaRPr lang="en-US" sz="1400" dirty="0"/>
          </a:p>
        </p:txBody>
      </p:sp>
      <p:sp>
        <p:nvSpPr>
          <p:cNvPr id="15" name="Text 13"/>
          <p:cNvSpPr txBox="1"/>
          <p:nvPr/>
        </p:nvSpPr>
        <p:spPr>
          <a:xfrm>
            <a:off x="1051560" y="5065776"/>
            <a:ext cx="10424160" cy="402336"/>
          </a:xfrm>
          <a:prstGeom prst="rect">
            <a:avLst/>
          </a:prstGeom>
          <a:noFill/>
          <a:ln/>
        </p:spPr>
        <p:txBody>
          <a:bodyPr wrap="square" lIns="0" tIns="0" rIns="0" bIns="0" rtlCol="0" anchor="ctr"/>
          <a:lstStyle/>
          <a:p>
            <a:pPr indent="0" marL="0">
              <a:buNone/>
            </a:pPr>
            <a:r>
              <a:rPr lang="en-US" sz="1250" dirty="0">
                <a:solidFill>
                  <a:srgbClr val="B9C6D6"/>
                </a:solidFill>
                <a:latin typeface="Calibri" pitchFamily="34" charset="0"/>
                <a:ea typeface="Calibri" pitchFamily="34" charset="-122"/>
                <a:cs typeface="Calibri" pitchFamily="34" charset="-120"/>
              </a:rPr>
              <a:t>Narrow the parameter ranges — now the only free lever. The recoverable corner is well defined, and 4% of sampled points are physically unmeasurable.</a:t>
            </a:r>
            <a:endParaRPr lang="en-US" sz="1250" dirty="0"/>
          </a:p>
        </p:txBody>
      </p:sp>
      <p:sp>
        <p:nvSpPr>
          <p:cNvPr id="16" name="Text 14"/>
          <p:cNvSpPr txBox="1"/>
          <p:nvPr/>
        </p:nvSpPr>
        <p:spPr>
          <a:xfrm>
            <a:off x="685800" y="5504688"/>
            <a:ext cx="274320" cy="329184"/>
          </a:xfrm>
          <a:prstGeom prst="rect">
            <a:avLst/>
          </a:prstGeom>
          <a:noFill/>
          <a:ln/>
        </p:spPr>
        <p:txBody>
          <a:bodyPr wrap="square" lIns="0" tIns="0" rIns="0" bIns="0" rtlCol="0" anchor="ctr"/>
          <a:lstStyle/>
          <a:p>
            <a:pPr indent="0" marL="0">
              <a:buNone/>
            </a:pPr>
            <a:r>
              <a:rPr lang="en-US" sz="1400" b="1" dirty="0">
                <a:solidFill>
                  <a:srgbClr val="1C7293"/>
                </a:solidFill>
                <a:latin typeface="Cambria" pitchFamily="34" charset="0"/>
                <a:ea typeface="Cambria" pitchFamily="34" charset="-122"/>
                <a:cs typeface="Cambria" pitchFamily="34" charset="-120"/>
              </a:rPr>
              <a:t>2</a:t>
            </a:r>
            <a:endParaRPr lang="en-US" sz="1400" dirty="0"/>
          </a:p>
        </p:txBody>
      </p:sp>
      <p:sp>
        <p:nvSpPr>
          <p:cNvPr id="17" name="Text 15"/>
          <p:cNvSpPr txBox="1"/>
          <p:nvPr/>
        </p:nvSpPr>
        <p:spPr>
          <a:xfrm>
            <a:off x="1051560" y="5504688"/>
            <a:ext cx="10424160" cy="402336"/>
          </a:xfrm>
          <a:prstGeom prst="rect">
            <a:avLst/>
          </a:prstGeom>
          <a:noFill/>
          <a:ln/>
        </p:spPr>
        <p:txBody>
          <a:bodyPr wrap="square" lIns="0" tIns="0" rIns="0" bIns="0" rtlCol="0" anchor="ctr"/>
          <a:lstStyle/>
          <a:p>
            <a:pPr indent="0" marL="0">
              <a:buNone/>
            </a:pPr>
            <a:r>
              <a:rPr lang="en-US" sz="1250" dirty="0">
                <a:solidFill>
                  <a:srgbClr val="B9C6D6"/>
                </a:solidFill>
                <a:latin typeface="Calibri" pitchFamily="34" charset="0"/>
                <a:ea typeface="Calibri" pitchFamily="34" charset="-122"/>
                <a:cs typeface="Calibri" pitchFamily="34" charset="-120"/>
              </a:rPr>
              <a:t>Instrument time is the binding cost. More ν points and more averages are interchangeable at equal time; ~8× the current acquisition reaches ~60% detectability.</a:t>
            </a:r>
            <a:endParaRPr lang="en-US" sz="1250" dirty="0"/>
          </a:p>
        </p:txBody>
      </p:sp>
      <p:sp>
        <p:nvSpPr>
          <p:cNvPr id="18" name="Text 16"/>
          <p:cNvSpPr txBox="1"/>
          <p:nvPr/>
        </p:nvSpPr>
        <p:spPr>
          <a:xfrm>
            <a:off x="685800" y="5943600"/>
            <a:ext cx="274320" cy="329184"/>
          </a:xfrm>
          <a:prstGeom prst="rect">
            <a:avLst/>
          </a:prstGeom>
          <a:noFill/>
          <a:ln/>
        </p:spPr>
        <p:txBody>
          <a:bodyPr wrap="square" lIns="0" tIns="0" rIns="0" bIns="0" rtlCol="0" anchor="ctr"/>
          <a:lstStyle/>
          <a:p>
            <a:pPr indent="0" marL="0">
              <a:buNone/>
            </a:pPr>
            <a:r>
              <a:rPr lang="en-US" sz="1400" b="1" dirty="0">
                <a:solidFill>
                  <a:srgbClr val="1C7293"/>
                </a:solidFill>
                <a:latin typeface="Cambria" pitchFamily="34" charset="0"/>
                <a:ea typeface="Cambria" pitchFamily="34" charset="-122"/>
                <a:cs typeface="Cambria" pitchFamily="34" charset="-120"/>
              </a:rPr>
              <a:t>3</a:t>
            </a:r>
            <a:endParaRPr lang="en-US" sz="1400" dirty="0"/>
          </a:p>
        </p:txBody>
      </p:sp>
      <p:sp>
        <p:nvSpPr>
          <p:cNvPr id="19" name="Text 17"/>
          <p:cNvSpPr txBox="1"/>
          <p:nvPr/>
        </p:nvSpPr>
        <p:spPr>
          <a:xfrm>
            <a:off x="1051560" y="5943600"/>
            <a:ext cx="10424160" cy="402336"/>
          </a:xfrm>
          <a:prstGeom prst="rect">
            <a:avLst/>
          </a:prstGeom>
          <a:noFill/>
          <a:ln/>
        </p:spPr>
        <p:txBody>
          <a:bodyPr wrap="square" lIns="0" tIns="0" rIns="0" bIns="0" rtlCol="0" anchor="ctr"/>
          <a:lstStyle/>
          <a:p>
            <a:pPr indent="0" marL="0">
              <a:buNone/>
            </a:pPr>
            <a:r>
              <a:rPr lang="en-US" sz="1250" dirty="0">
                <a:solidFill>
                  <a:srgbClr val="B9C6D6"/>
                </a:solidFill>
                <a:latin typeface="Calibri" pitchFamily="34" charset="0"/>
                <a:ea typeface="Calibri" pitchFamily="34" charset="-122"/>
                <a:cs typeface="Calibri" pitchFamily="34" charset="-120"/>
              </a:rPr>
              <a:t>Validate against experimental data for a system with independently known exchange parameters.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2026-09-04T10:57:46Z</dcterms:created>
  <dcterms:modified xsi:type="dcterms:W3CDTF">2026-09-04T10:57:46Z</dcterms:modified>
</cp:coreProperties>
</file>