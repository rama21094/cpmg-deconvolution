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min, questions welcome throughout. Plan: start with why we're building this at all, then the debugging story — including two mistakes.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project. The network is the destination; today is entirely about the training-data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 ~3.5 s-1, about 17% of R2eff. Note it decays away by ~300 Hz. The overlap at high nu is real, not a plotting artefact.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justification for spending weeks on validation instead of jumping to the network. Expect a question here — the answer is that a biased simulator produces a confidently wrong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benchmark is a round-trip test. We know the ground truth because we generated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rush past this — the whole talk is the story of chasing this number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useful move was designing tests that separate the hypotheses, rather than guessing which was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place to invite questions. The lesson is generalisable and worth stating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 defensiveness about ChemEx — make clear this is a modelling-scope difference, not a bug in their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dependency closure from the observable Nx gives exactly {E, Nx, Ny, Nz} x {A,B}. Drop the identity, which ChemEx omits, and you have their 6x6.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of the talk. Everything before builds to this; everything after is about what was actually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factor of 2 is the headline. Worth saying plainly: we were feeding ChemEx a mislabelled x-axis.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(b): 90 excitation, t_neg finite-pulse correction, two mirrored half-trains around the phase-cycled 180, then 90 and detect. Our train (a) had none of the outer machinery.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moment to pause for questions. Then motivate why we went further rather than declaring victory at 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lesson: guessing conventions wasted time; ablation found it in one pass. Say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cleanest result in the talk. Curve 2 vs 3 changes only the physics engine; curve 1 vs 2 changes only the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4 degenerate groups voluntarily — near kex 1250-1430, where CPMG constrains the product not the individual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meetings are the right venue for this slide — the failure modes generalise beyond this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back to the project goal — this is the answer to 'why did you need the big matrix?'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project goal.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937760" cy="493776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3291840" cy="3291840"/>
          </a:xfrm>
          <a:prstGeom prst="ellipse">
            <a:avLst/>
          </a:prstGeom>
          <a:solidFill>
            <a:srgbClr val="1C7293">
              <a:alpha val="3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9F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meeting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CPMG simulator we can trust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D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 the synthetic-data engine for the J-decoupling network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41248" y="3950208"/>
            <a:ext cx="146304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2062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B2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 →  what went wrong  →  what we fixed  →  where we stand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goal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 that removes the J-coupling artefact from a measured CPMG curve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BE4DC"/>
          </a:solidFill>
          <a:ln w="19050">
            <a:solidFill>
              <a:srgbClr val="C144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curve
</a:t>
            </a:r>
            <a:pPr algn="ctr" indent="0" marL="0">
              <a:buNone/>
            </a:pPr>
            <a:r>
              <a:rPr lang="en-US" sz="1500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J-coupling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069080" y="2148840"/>
            <a:ext cx="914400" cy="457200"/>
          </a:xfrm>
          <a:prstGeom prst="rightArrow">
            <a:avLst/>
          </a:prstGeom>
          <a:solidFill>
            <a:srgbClr val="55606F"/>
          </a:solidFill>
          <a:ln/>
        </p:spPr>
      </p:sp>
      <p:sp>
        <p:nvSpPr>
          <p:cNvPr id="7" name="Shape 5"/>
          <p:cNvSpPr/>
          <p:nvPr/>
        </p:nvSpPr>
        <p:spPr>
          <a:xfrm>
            <a:off x="5212080" y="16916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6916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DNN
</a:t>
            </a:r>
            <a:pPr algn="ctr" indent="0" marL="0">
              <a:buNone/>
            </a:pPr>
            <a:r>
              <a:rPr lang="en-US" sz="1400" dirty="0">
                <a:solidFill>
                  <a:srgbClr val="BB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synthetic pairs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26680" y="2148840"/>
            <a:ext cx="914400" cy="457200"/>
          </a:xfrm>
          <a:prstGeom prst="rightArrow">
            <a:avLst/>
          </a:prstGeom>
          <a:solidFill>
            <a:srgbClr val="55606F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0" y="16916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DDF0E9"/>
          </a:solidFill>
          <a:ln w="19050">
            <a:solidFill>
              <a:srgbClr val="0F7B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691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curve
</a:t>
            </a:r>
            <a:pPr algn="ctr" indent="0" marL="0">
              <a:buNone/>
            </a:pPr>
            <a:r>
              <a:rPr lang="en-US" sz="1500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J-coupling removed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429000"/>
            <a:ext cx="5303520" cy="2286000"/>
          </a:xfrm>
          <a:prstGeom prst="roundRect">
            <a:avLst>
              <a:gd name="adj" fmla="val 280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" y="367588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611880"/>
            <a:ext cx="4462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bother?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78992" y="4087368"/>
            <a:ext cx="47914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J-coupling to the amide proton distorts the 15N dispersion curve. That distortion is entangled with the exchange information we actually want (kₑₓ, pᴮ, Δω).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it experimentally costs extra pulse-sequence machinery. Removing it computationally would be cheap and general.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5303520" cy="2286000"/>
          </a:xfrm>
          <a:prstGeom prst="roundRect">
            <a:avLst>
              <a:gd name="adj" fmla="val 280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47104" y="367588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3611880"/>
            <a:ext cx="4462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network?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65392" y="4087368"/>
            <a:ext cx="47914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mapping from J-coupled → J-free is deterministic but has no closed form: it depends on kₑₓ, pᴮ, Δω, relaxation and the pulse sequence together.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exactly the kind of well-posed, hard-to-invert mapping a network handles well — given enough training data.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J-coupling artefact actually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simulator, identical exchange parameters, J = 92 Hz vs J = 0</a:t>
            </a:r>
            <a:endParaRPr lang="en-US" sz="1600" dirty="0"/>
          </a:p>
        </p:txBody>
      </p:sp>
      <p:pic>
        <p:nvPicPr>
          <p:cNvPr id="4" name="Image 0" descr="/Users/shankararamasharma/Desktop/IISc/CPMG Project/docs/group_meeting_figs/gm_jcoupling_eff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325880"/>
            <a:ext cx="10972800" cy="44256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artefact is largest at low ν</a:t>
            </a:r>
            <a:pPr indent="0" marL="0">
              <a:buNone/>
            </a:pPr>
            <a:r>
              <a:rPr lang="en-US" sz="1600" b="1" baseline="-40000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CPMG</a:t>
            </a:r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exactly where the exchange information is richest. That is why it cannot simply be ignored.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— and why it depends on the simulator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cannot measure J-coupled / J-free pairs experimentally, so the training data must be simulated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2249424" cy="1691640"/>
          </a:xfrm>
          <a:prstGeom prst="roundRect">
            <a:avLst>
              <a:gd name="adj" fmla="val 432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3736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simulator
</a:t>
            </a:r>
            <a:pPr algn="ctr" indent="0" marL="0">
              <a:buNone/>
            </a:pP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Allard 1998,</a:t>
            </a:r>
            <a:endParaRPr lang="en-US" sz="16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× 32 Liouvillian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2980944" y="2395728"/>
            <a:ext cx="475488" cy="384048"/>
          </a:xfrm>
          <a:prstGeom prst="rightArrow">
            <a:avLst/>
          </a:prstGeom>
          <a:solidFill>
            <a:srgbClr val="55606F"/>
          </a:solidFill>
          <a:ln/>
        </p:spPr>
      </p:sp>
      <p:sp>
        <p:nvSpPr>
          <p:cNvPr id="7" name="Shape 5"/>
          <p:cNvSpPr/>
          <p:nvPr/>
        </p:nvSpPr>
        <p:spPr>
          <a:xfrm>
            <a:off x="3529584" y="1737360"/>
            <a:ext cx="2249424" cy="1691640"/>
          </a:xfrm>
          <a:prstGeom prst="roundRect">
            <a:avLst>
              <a:gd name="adj" fmla="val 432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9584" y="173736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dataset
</a:t>
            </a:r>
            <a:pPr algn="ctr" indent="0" marL="0">
              <a:buNone/>
            </a:pP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paired</a:t>
            </a:r>
            <a:endParaRPr lang="en-US" sz="16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curves (J = 92, J = 0)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852160" y="2395728"/>
            <a:ext cx="475488" cy="384048"/>
          </a:xfrm>
          <a:prstGeom prst="rightArrow">
            <a:avLst/>
          </a:prstGeom>
          <a:solidFill>
            <a:srgbClr val="55606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737360"/>
            <a:ext cx="2249424" cy="1691640"/>
          </a:xfrm>
          <a:prstGeom prst="roundRect">
            <a:avLst>
              <a:gd name="adj" fmla="val 4324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73736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the DNN
</a:t>
            </a:r>
            <a:pPr algn="ctr" indent="0" marL="0">
              <a:buNone/>
            </a:pP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J-coupled</a:t>
            </a:r>
            <a:endParaRPr lang="en-US" sz="16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J-free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723376" y="2395728"/>
            <a:ext cx="475488" cy="384048"/>
          </a:xfrm>
          <a:prstGeom prst="rightArrow">
            <a:avLst/>
          </a:prstGeom>
          <a:solidFill>
            <a:srgbClr val="55606F"/>
          </a:solidFill>
          <a:ln/>
        </p:spPr>
      </p:sp>
      <p:sp>
        <p:nvSpPr>
          <p:cNvPr id="13" name="Shape 11"/>
          <p:cNvSpPr/>
          <p:nvPr/>
        </p:nvSpPr>
        <p:spPr>
          <a:xfrm>
            <a:off x="9272016" y="1737360"/>
            <a:ext cx="2249424" cy="1691640"/>
          </a:xfrm>
          <a:prstGeom prst="roundRect">
            <a:avLst>
              <a:gd name="adj" fmla="val 4324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72016" y="173736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real data
</a:t>
            </a:r>
            <a:pPr algn="ctr" indent="0" marL="0">
              <a:buNone/>
            </a:pP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curves →</a:t>
            </a:r>
            <a:endParaRPr lang="en-US" sz="16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kₑₓ, pᴮ, Δω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58368" y="3749040"/>
            <a:ext cx="2249424" cy="475488"/>
          </a:xfrm>
          <a:prstGeom prst="roundRect">
            <a:avLst>
              <a:gd name="adj" fmla="val 11538"/>
            </a:avLst>
          </a:prstGeom>
          <a:solidFill>
            <a:srgbClr val="FBE4DC"/>
          </a:solidFill>
          <a:ln w="19050">
            <a:solidFill>
              <a:srgbClr val="C144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749040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here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526280"/>
            <a:ext cx="10972800" cy="1371600"/>
          </a:xfrm>
          <a:prstGeom prst="roundRect">
            <a:avLst>
              <a:gd name="adj" fmla="val 466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477316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9" name="Text 17"/>
          <p:cNvSpPr/>
          <p:nvPr/>
        </p:nvSpPr>
        <p:spPr>
          <a:xfrm>
            <a:off x="1298448" y="470916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Garbage in, garbage out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5184648"/>
            <a:ext cx="10460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can only ever be as correct as the physics it is trained on. A systematic error in the simulator becomes a systematic error the network learns and reproduces — invisibly. So before generating millions of curves, the simulator has to be proven right.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numerical propagation — no analytical approximation to the exchange problem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463040"/>
            <a:ext cx="5394960" cy="2377440"/>
          </a:xfrm>
          <a:prstGeom prst="roundRect">
            <a:avLst>
              <a:gd name="adj" fmla="val 2692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70992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solves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121408"/>
            <a:ext cx="488289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Bloch–McConnell + relaxation in the 16-operator Cartesian product basis of Allard, Helgstrand &amp; Härd (1998):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E, Hₓ, Hᵧ, H_z, Nₓ, Nᵧ, N_z,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2HₓN_z … 2H_zN_z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2 exchanging states → 32 × 32.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394960" cy="2377440"/>
          </a:xfrm>
          <a:prstGeom prst="roundRect">
            <a:avLst>
              <a:gd name="adj" fmla="val 2692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64224" y="170992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that buys us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82512" y="2121408"/>
            <a:ext cx="488289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proton bath and cross-relaxation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CSA–DD cross-correlation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scalar (J) coupling — the whole point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finite pulse widths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by matrix exponential, so no fast/slow-exchange approximation is ever made.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4114800"/>
            <a:ext cx="10972800" cy="1691640"/>
          </a:xfrm>
          <a:prstGeom prst="roundRect">
            <a:avLst>
              <a:gd name="adj" fmla="val 3784"/>
            </a:avLst>
          </a:prstGeom>
          <a:solidFill>
            <a:srgbClr val="E8EEF4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4361688"/>
            <a:ext cx="292608" cy="29260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8448" y="429768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know it is right?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773168"/>
            <a:ext cx="104607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checks. (1) Audit the implementation line-by-line against the paper it claims to implement. (2) Benchmark it against ChemEx — the standard, widely used relaxation-dispersion package — by generating data with our simulator and asking ChemEx to recover the parameters we put in.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attempt: it failed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 synthetic profiles, 100 grouped fits — ChemEx could not recover what we put 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6002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74650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–46%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4963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pᴮ  (minor population)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" y="2816352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fitted ≈ 0.03 vs true 0.05–0.07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0832" y="16002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174650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370832" y="24963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kₑₓ  (exchange rate)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816352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systematically overestimated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6002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83296" y="174650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083296" y="24963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Δω  (shift difference)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3024" y="2816352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systematically overestimated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3703320"/>
            <a:ext cx="10972800" cy="1371600"/>
          </a:xfrm>
          <a:prstGeom prst="roundRect">
            <a:avLst>
              <a:gd name="adj" fmla="val 466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395020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0" name="Text 18"/>
          <p:cNvSpPr/>
          <p:nvPr/>
        </p:nvSpPr>
        <p:spPr>
          <a:xfrm>
            <a:off x="1298448" y="388620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big and too systematic to be noise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4400" y="4361688"/>
            <a:ext cx="10460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group was biased the same way. Something was structurally wrong — either our physics, ChemEx's physics, or the way we were connecting the two.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" y="5257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the real work started.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thought about 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candidate explanations — and how to tell them apart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10972800" cy="1033272"/>
          </a:xfrm>
          <a:prstGeom prst="roundRect">
            <a:avLst>
              <a:gd name="adj" fmla="val 531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2880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353312" y="16002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physics is wrong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53312" y="19933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mis-implemented Allard.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577840" y="1481328"/>
            <a:ext cx="585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 </a:t>
            </a:r>
            <a:pPr indent="0" marL="0">
              <a:buNone/>
            </a:pP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the code against the paper.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58368" y="2596896"/>
            <a:ext cx="10972800" cy="1033272"/>
          </a:xfrm>
          <a:prstGeom prst="roundRect">
            <a:avLst>
              <a:gd name="adj" fmla="val 531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9443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353312" y="271576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ChemEx's physics is different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53312" y="3108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models a smaller spin system.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577840" y="2596896"/>
            <a:ext cx="585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 </a:t>
            </a:r>
            <a:pPr indent="0" marL="0">
              <a:buNone/>
            </a:pP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two matrices directly.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58368" y="3712464"/>
            <a:ext cx="10972800" cy="1033272"/>
          </a:xfrm>
          <a:prstGeom prst="roundRect">
            <a:avLst>
              <a:gd name="adj" fmla="val 531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059936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1353312" y="383133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fitting is degenerate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53312" y="42245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kₑₓ / pᴮ trade off against each other.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577840" y="3712464"/>
            <a:ext cx="585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 </a:t>
            </a:r>
            <a:pPr indent="0" marL="0">
              <a:buNone/>
            </a:pP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forward models with no fitting at all.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8368" y="4828032"/>
            <a:ext cx="10972800" cy="1033272"/>
          </a:xfrm>
          <a:prstGeom prst="roundRect">
            <a:avLst>
              <a:gd name="adj" fmla="val 531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5175504"/>
            <a:ext cx="329184" cy="329184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3" name="Text 21"/>
          <p:cNvSpPr/>
          <p:nvPr/>
        </p:nvSpPr>
        <p:spPr>
          <a:xfrm>
            <a:off x="1353312" y="494690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wiring them together wrong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53312" y="534009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Units, conventions, file formats.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577840" y="4828032"/>
            <a:ext cx="585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 </a:t>
            </a:r>
            <a:pPr indent="0" marL="0">
              <a:buNone/>
            </a:pP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ChemEx's source, not its docs.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1 — audit our own physics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Line-by-line against Allard, Helgstrand &amp; Härd (1998)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5394960" cy="2103120"/>
          </a:xfrm>
          <a:prstGeom prst="roundRect">
            <a:avLst>
              <a:gd name="adj" fmla="val 304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70992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8" name="Text 6"/>
          <p:cNvSpPr/>
          <p:nvPr/>
        </p:nvSpPr>
        <p:spPr>
          <a:xfrm>
            <a:off x="1298448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did find a bug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121408"/>
            <a:ext cx="48828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DD–CSA cross-correlation prefactor was short by √3 relative to Eq. 33–34: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A_d · A_c = √(9d² · 3c²)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fed the η_z and η_xy rates. Verified with SymPy, then fixed in 5 places.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5394960" cy="2103120"/>
          </a:xfrm>
          <a:prstGeom prst="roundRect">
            <a:avLst>
              <a:gd name="adj" fmla="val 304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64224" y="170992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was correct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121408"/>
            <a:ext cx="48828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r₂(N), r₁(N), σ, μ_mq and the exchange block all matched the paper exactly.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implementation was fundamentally sound — one real but narrow error.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3840480"/>
            <a:ext cx="10972800" cy="1828800"/>
          </a:xfrm>
          <a:prstGeom prst="roundRect">
            <a:avLst>
              <a:gd name="adj" fmla="val 3500"/>
            </a:avLst>
          </a:prstGeom>
          <a:solidFill>
            <a:srgbClr val="FBF0DD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08736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1298448" y="402336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 #1 — we assumed this was the answer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4498848"/>
            <a:ext cx="104607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was a genuine bug, so it felt like the explanation. It was not. At the magic angle the cross-correlation term vanishes anyway, so it could not possibly account for a –46% pᴮ bias. Fixing it changed the benchmark almost not at all.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finding *a* bug is not the same as finding *the* bug.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2 — compare the matrices themselves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curves, not fits. Read ChemEx's source and print its actual Liouvillian.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5394960" cy="2331720"/>
          </a:xfrm>
          <a:prstGeom prst="roundRect">
            <a:avLst>
              <a:gd name="adj" fmla="val 2745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70992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298448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expected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121408"/>
            <a:ext cx="488289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32 × 32 matrix like ours, possibly with different conventions or a slightly different relaxation treatment.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5394960" cy="2331720"/>
          </a:xfrm>
          <a:prstGeom prst="roundRect">
            <a:avLst>
              <a:gd name="adj" fmla="val 2745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64224" y="170992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121408"/>
            <a:ext cx="488289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cpmg_15n_ip declares Basis(type="ixyz").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three operators per state: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Nₓ, Nᵧ, N_z   (× A, B)  =  6 × 6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proton in the basis at all.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4069080"/>
            <a:ext cx="10972800" cy="1737360"/>
          </a:xfrm>
          <a:prstGeom prst="roundRect">
            <a:avLst>
              <a:gd name="adj" fmla="val 3684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31596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298448" y="425196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that is not a criticism of ChemEx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4727448"/>
            <a:ext cx="104607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fitting package this is a sensible, fast, well-tested choice — in-phase 15N CPMG is usually analysed exactly this way. But it means the two codes can only be compared where our 32 × 32 reduces to the same 6 × 6: J = 0, magic angle, no dipolar coupling.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that limit our matrix collapses onto theirs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= the only rows and columns the observable actually depends on (computed, not eyeballed)</a:t>
            </a:r>
            <a:endParaRPr lang="en-US" sz="1600" dirty="0"/>
          </a:p>
        </p:txBody>
      </p:sp>
      <p:pic>
        <p:nvPicPr>
          <p:cNvPr id="4" name="Image 0" descr="/Users/shankararamasharma/Desktop/IISc/CPMG Project/docs/group_meeting_figs/gm_matrix_collap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371600"/>
            <a:ext cx="10972800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the two matrices are identical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Eigenvalues are basis-independent — the strongest test available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08760"/>
          <a:ext cx="1097280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474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Ours (32×32, collapsed)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ChemEx (6×6)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Physical mode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–300.5359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–300.5359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60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longitudinal exchange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–288.7159 ± 759.2445i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–288.7169 ± 759.0113i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60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state-B transverse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–15.1426 ± 4.9910i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–15.1416 ± 4.9922i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60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state-A transverse (observed)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–0.5359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–0.5359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60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R₁ relaxation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" y="3840480"/>
            <a:ext cx="329184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398678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58368" y="47365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difference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8096" y="5056632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units convention, not physics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24528" y="3840480"/>
            <a:ext cx="7406640" cy="1737360"/>
          </a:xfrm>
          <a:prstGeom prst="roundRect">
            <a:avLst>
              <a:gd name="adj" fmla="val 3684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62272" y="408736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13" name="Text 10"/>
          <p:cNvSpPr/>
          <p:nvPr/>
        </p:nvSpPr>
        <p:spPr>
          <a:xfrm>
            <a:off x="4864608" y="4023360"/>
            <a:ext cx="6565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two differences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480560" y="4498848"/>
            <a:ext cx="68945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Sign of Δω — opposite rotation convention; R₂,eff depends on Δω², so nothing observable changes.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|Δω| differs by 0.03% — we use γ_N/γ_H, ChemEx uses the IUPAC Ξ ratio.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8368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physics engines agree. The problem had to be somewhere else entirely.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bug: pulse-sequence conventions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Liouvillian — but 'ncyc' means two different things in the two codes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81328"/>
          <a:ext cx="109728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38328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simulator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ChemEx cpmg_15n_ip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180° pulses per labelled ncyc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ncyc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ncyc  (two half-trains)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τ_cp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(T – ncyc·t₁₈₀) / (2·ncyc)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time_t2/(4·ncyc) – pw90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ν_CPMG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1/(4τ_cp)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ncyc / time_t2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Excitation / detection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starts on Nₓ, reads Nₓ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 90° pulses, t_neg, t_equil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" y="388620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6112" y="413308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9" name="Text 6"/>
          <p:cNvSpPr/>
          <p:nvPr/>
        </p:nvSpPr>
        <p:spPr>
          <a:xfrm>
            <a:off x="1298448" y="406908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concrete errors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4544568"/>
            <a:ext cx="4882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ncyc was off by a factor of 2 — ChemEx read our labels as half the real pulse count.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time_t2 was 0.068 s; the data was generated with 0.04 s, rescaling every rate by 0.588.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26480" y="388620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64224" y="413308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0" y="406908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looked like physics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382512" y="4544568"/>
            <a:ext cx="4882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errors distort the curve smoothly, in a way that mimics a different exchange regime. The fit absorbs them by shifting pᴮ — which is exactly what we saw.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sequences, drawn out — both now implemented in our simulator</a:t>
            </a:r>
            <a:endParaRPr lang="en-US" sz="3000" dirty="0"/>
          </a:p>
        </p:txBody>
      </p:sp>
      <p:pic>
        <p:nvPicPr>
          <p:cNvPr id="3" name="Image 0" descr="/Users/shankararamasharma/Desktop/IISc/CPMG Project/docs/group_meeting_figs/gm_pulse_sequen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1060704"/>
            <a:ext cx="965606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the conventions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Regenerate the dataset with the correct ncyc labelling and time_t2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737360" y="1645920"/>
            <a:ext cx="365760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79222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–46%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737360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pᴮ error  —  before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47088" y="2862072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dataset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2286000"/>
            <a:ext cx="822960" cy="457200"/>
          </a:xfrm>
          <a:prstGeom prst="rightArrow">
            <a:avLst/>
          </a:prstGeom>
          <a:solidFill>
            <a:srgbClr val="55606F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1645920"/>
            <a:ext cx="365760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79222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+5.4%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766560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pᴮ error  —  after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76288" y="2862072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ncyc and time_t2 corrected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37947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404164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17" name="Text 15"/>
          <p:cNvSpPr/>
          <p:nvPr/>
        </p:nvSpPr>
        <p:spPr>
          <a:xfrm>
            <a:off x="1298448" y="397764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the bias was bookkeeping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453128"/>
            <a:ext cx="48828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configuration values — not the relaxation theory, not the exchange model, not the optimiser. kₑₓ improved from +12.2% to –5.1% at the same time.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26480" y="37947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64224" y="404164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97764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not all of it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82512" y="4453128"/>
            <a:ext cx="48828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residual ~5% bias survived. The sequences were still structurally different, so we could not yet tell whether the rest was physics or more convention.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the last variable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ChemEx's exact sequence inside our simulator, so only physics can differ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10972800" cy="1024128"/>
          </a:xfrm>
          <a:prstGeom prst="roundRect">
            <a:avLst>
              <a:gd name="adj" fmla="val 625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91056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sim.simulate_cpmg(params, sequence="home")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FC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sim.simulate_cpmg(params, sequence="chemex")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743200"/>
            <a:ext cx="10972800" cy="1965960"/>
          </a:xfrm>
          <a:prstGeom prst="roundRect">
            <a:avLst>
              <a:gd name="adj" fmla="val 3256"/>
            </a:avLst>
          </a:prstGeom>
          <a:solidFill>
            <a:srgbClr val="FBE9E3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99008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292608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 #2 — a five-percent residual we could not explain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401568"/>
            <a:ext cx="1046073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implementing the sequence, a stubborn ~5% gap remained that no sign or phase convention would remove. We spent a while flipping conventions before doing the systematic thing: swap in ChemEx's own propagators one at a time.</a:t>
            </a: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endParaRPr lang="en-US" sz="15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culprit was the detection operator. ChemEx sets suffix_detect = "_a" — it detects ONLY the ground state's N_z, not the population-weighted sum over both states, which is what we had assumed.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4892040"/>
            <a:ext cx="10972800" cy="914400"/>
          </a:xfrm>
          <a:prstGeom prst="roundRect">
            <a:avLst>
              <a:gd name="adj" fmla="val 700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513892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8448" y="507492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line, factor of 77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5550408"/>
            <a:ext cx="104607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that convention took the discrepancy from ~5% to 0.066% — the level of the known 0.03% gyromagnetic-ratio difference. At that point there is no residual bug on either side.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we can separate sequence from physics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forward models, no fitting anywhere</a:t>
            </a:r>
            <a:endParaRPr lang="en-US" sz="1600" dirty="0"/>
          </a:p>
        </p:txBody>
      </p:sp>
      <p:pic>
        <p:nvPicPr>
          <p:cNvPr id="4" name="Image 0" descr="/Users/shankararamasharma/Desktop/IISc/CPMG Project/docs/group_meeting_figs/gm_forward_three_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325880"/>
            <a:ext cx="10972800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curves 2 and 3 lie on top of each other (0.066%).   </a:t>
            </a:r>
            <a:pPr indent="0" marL="0">
              <a:buNone/>
            </a:pPr>
            <a:r>
              <a:rPr lang="en-US" sz="16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sequence, but a 20.6% gap in Rₑₓ remains — that is genuine physics.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Refitting all 1500 profiles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regenerated with ChemEx's own sequence — 100/100 grouped fits converged</a:t>
            </a:r>
            <a:endParaRPr lang="en-US" sz="1600" dirty="0"/>
          </a:p>
        </p:txBody>
      </p:sp>
      <p:pic>
        <p:nvPicPr>
          <p:cNvPr id="6" name="Image 0" descr="/Users/shankararamasharma/Desktop/IISc/CPMG Project/docs/group_meeting_figs/gm_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371600"/>
            <a:ext cx="10972800" cy="4599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" y="6053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pᴮ:  –46%  →  +5.4%  →  +1.7%.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spread is dominated by the fast-exchange kₑₓ / pᴮ degeneracy (4 of 100 groups), not by model error.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 along the 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worth carrying into the next stage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10972800" cy="1298448"/>
          </a:xfrm>
          <a:prstGeom prst="roundRect">
            <a:avLst>
              <a:gd name="adj" fmla="val 493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1168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444752" y="1737360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 bug ≠ finding the bug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44752" y="21762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√3 error was real and worth fixing, but it explained none of the discrepancy. We nearly stopped there.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58368" y="2999232"/>
            <a:ext cx="10972800" cy="1298448"/>
          </a:xfrm>
          <a:prstGeom prst="roundRect">
            <a:avLst>
              <a:gd name="adj" fmla="val 493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34564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444752" y="318211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source, not the documentation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44752" y="362102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ChemEx uses a 6×6 basis and detects only state A are both facts you can only get from the code.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58368" y="4443984"/>
            <a:ext cx="10972800" cy="1298448"/>
          </a:xfrm>
          <a:prstGeom prst="roundRect">
            <a:avLst>
              <a:gd name="adj" fmla="val 493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4901184"/>
            <a:ext cx="365760" cy="365760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14" name="Text 12"/>
          <p:cNvSpPr/>
          <p:nvPr/>
        </p:nvSpPr>
        <p:spPr>
          <a:xfrm>
            <a:off x="1444752" y="4626864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Ablate, don't guess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44752" y="506577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Flipping conventions one at a time by intuition wasted days. Swapping components in systematically found it immediately.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simulator stands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Validated, with a quantified statement of what it adds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75564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1691640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validated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167128"/>
            <a:ext cx="3008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ChemEx's Liouvillian to 0.03% in the regime where both apply. One real bug (√3) found and fixed.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6864" y="175564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691640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Round-trip verified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45152" y="2167128"/>
            <a:ext cx="3008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ChemEx recovers pᴮ to +1.7% and kₑₓ to –2.0% from data our simulator generates.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19872" y="150876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7616" y="175564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759952" y="1691640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quantified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75904" y="2167128"/>
            <a:ext cx="3008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sequence controlled, the 32×32 treatment changes Rₑₓ by 20.6% vs a 6×6 model at realistic J.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3886200"/>
            <a:ext cx="10972800" cy="1920240"/>
          </a:xfrm>
          <a:prstGeom prst="roundRect">
            <a:avLst>
              <a:gd name="adj" fmla="val 3333"/>
            </a:avLst>
          </a:prstGeom>
          <a:solidFill>
            <a:srgbClr val="E8EEF4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4133088"/>
            <a:ext cx="292608" cy="29260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1298448" y="406908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20.6% matters for this project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4544568"/>
            <a:ext cx="104607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gap is precisely the proton bath, CSA–DD cross-correlation and J-coupling that a reduced model cannot represent — and J-coupling is the very thing the network is supposed to learn to remove. A 6×6 simulator could not generate this training data at all. The larger treatment is not an indulgence; it is a requirement.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1463040"/>
            <a:ext cx="2926080" cy="2926080"/>
          </a:xfrm>
          <a:prstGeom prst="ellipse">
            <a:avLst/>
          </a:prstGeom>
          <a:solidFill>
            <a:srgbClr val="065A82">
              <a:alpha val="3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618488"/>
            <a:ext cx="310896" cy="310896"/>
          </a:xfrm>
          <a:prstGeom prst="ellipse">
            <a:avLst/>
          </a:prstGeom>
          <a:solidFill>
            <a:srgbClr val="9FE0C8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150876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 training set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9659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BB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simulator validated, produce the paired (J-coupled, J-free) dataset at scale across kₑₓ, pᴮ, Δω and field.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77240" y="3035808"/>
            <a:ext cx="310896" cy="310896"/>
          </a:xfrm>
          <a:prstGeom prst="ellipse">
            <a:avLst/>
          </a:prstGeom>
          <a:solidFill>
            <a:srgbClr val="9FC3D9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92608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benchmark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33832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BB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the matched-sequence comparison for the TROSY experiment, and check how the 20.6% physics gap propagates into fitted parameters.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77240" y="4453128"/>
            <a:ext cx="310896" cy="310896"/>
          </a:xfrm>
          <a:prstGeom prst="ellipse">
            <a:avLst/>
          </a:prstGeom>
          <a:solidFill>
            <a:srgbClr val="FFD9A0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434340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network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48006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BB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training on synthetic pairs; then test on the CW-CPMG sequence (Hansen/Kay 2008), which is already implemented.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31520" y="562356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2C3568"/>
          </a:solidFill>
          <a:ln w="12700">
            <a:solidFill>
              <a:srgbClr val="3D48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6235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in the repo — simulator, both pulse sequences, the ChemEx benchmark harness and the full write-up.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CPMG simulator validation — group meeting</dc:title>
  <dc:subject>PptxGenJS Presentation</dc:subject>
  <dc:creator>PptxGenJS</dc:creator>
  <cp:lastModifiedBy>PptxGenJS</cp:lastModifiedBy>
  <cp:revision>1</cp:revision>
  <dcterms:created xsi:type="dcterms:W3CDTF">2026-08-10T16:22:19Z</dcterms:created>
  <dcterms:modified xsi:type="dcterms:W3CDTF">2026-08-10T16:22:19Z</dcterms:modified>
</cp:coreProperties>
</file>